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 id="412" r:id="rId157"/>
    <p:sldId id="413" r:id="rId158"/>
    <p:sldId id="414" r:id="rId159"/>
    <p:sldId id="415" r:id="rId160"/>
    <p:sldId id="416" r:id="rId161"/>
    <p:sldId id="417" r:id="rId162"/>
    <p:sldId id="418" r:id="rId163"/>
    <p:sldId id="419" r:id="rId164"/>
    <p:sldId id="420" r:id="rId165"/>
    <p:sldId id="421" r:id="rId166"/>
    <p:sldId id="422" r:id="rId167"/>
    <p:sldId id="423" r:id="rId168"/>
    <p:sldId id="424" r:id="rId169"/>
    <p:sldId id="425" r:id="rId170"/>
    <p:sldId id="426" r:id="rId171"/>
    <p:sldId id="427" r:id="rId172"/>
    <p:sldId id="428" r:id="rId173"/>
    <p:sldId id="429" r:id="rId174"/>
    <p:sldId id="430" r:id="rId1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68" autoAdjust="0"/>
    <p:restoredTop sz="94660"/>
  </p:normalViewPr>
  <p:slideViewPr>
    <p:cSldViewPr snapToGrid="0">
      <p:cViewPr varScale="1">
        <p:scale>
          <a:sx n="119" d="100"/>
          <a:sy n="119" d="100"/>
        </p:scale>
        <p:origin x="224"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presProps" Target="pres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916BAE-FCCC-9F45-93FC-1CCC94930347}" type="datetimeFigureOut">
              <a:rPr lang="en-NG" smtClean="0"/>
              <a:t>19/08/2026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E1982B-1053-2D45-B6E6-F526102D0D02}" type="slidenum">
              <a:rPr lang="en-NG" smtClean="0"/>
              <a:t>‹#›</a:t>
            </a:fld>
            <a:endParaRPr lang="en-NG"/>
          </a:p>
        </p:txBody>
      </p:sp>
    </p:spTree>
    <p:extLst>
      <p:ext uri="{BB962C8B-B14F-4D97-AF65-F5344CB8AC3E}">
        <p14:creationId xmlns:p14="http://schemas.microsoft.com/office/powerpoint/2010/main" val="946071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434DF809-B84D-41F4-AA1B-1F0528F6E85B}" type="datetimeFigureOut">
              <a:rPr lang="en-GB" smtClean="0"/>
              <a:t>19/08/2026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70719D-D5CC-4449-9935-2C9B77E9A2BF}" type="slidenum">
              <a:rPr lang="en-GB" smtClean="0"/>
              <a:t>‹#›</a:t>
            </a:fld>
            <a:endParaRPr lang="en-GB"/>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5248" y="374904"/>
            <a:ext cx="1711641" cy="530352"/>
          </a:xfrm>
          <a:prstGeom prst="rect">
            <a:avLst/>
          </a:prstGeom>
        </p:spPr>
      </p:pic>
    </p:spTree>
    <p:extLst>
      <p:ext uri="{BB962C8B-B14F-4D97-AF65-F5344CB8AC3E}">
        <p14:creationId xmlns:p14="http://schemas.microsoft.com/office/powerpoint/2010/main" val="1112079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434DF809-B84D-41F4-AA1B-1F0528F6E85B}" type="datetimeFigureOut">
              <a:rPr lang="en-GB" smtClean="0"/>
              <a:t>19/08/2026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64144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GB"/>
              <a:t>Click to edit Master title style</a:t>
            </a:r>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434DF809-B84D-41F4-AA1B-1F0528F6E85B}" type="datetimeFigureOut">
              <a:rPr lang="en-GB" smtClean="0"/>
              <a:t>19/08/2026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70719D-D5CC-4449-9935-2C9B77E9A2BF}" type="slidenum">
              <a:rPr lang="en-GB" smtClean="0"/>
              <a:t>‹#›</a:t>
            </a:fld>
            <a:endParaRPr lang="en-GB"/>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5248" y="374904"/>
            <a:ext cx="1711641" cy="530352"/>
          </a:xfrm>
          <a:prstGeom prst="rect">
            <a:avLst/>
          </a:prstGeom>
        </p:spPr>
      </p:pic>
    </p:spTree>
    <p:extLst>
      <p:ext uri="{BB962C8B-B14F-4D97-AF65-F5344CB8AC3E}">
        <p14:creationId xmlns:p14="http://schemas.microsoft.com/office/powerpoint/2010/main" val="3973727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34DF809-B84D-41F4-AA1B-1F0528F6E85B}" type="datetimeFigureOut">
              <a:rPr lang="en-GB" smtClean="0"/>
              <a:t>19/08/2026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2213653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434DF809-B84D-41F4-AA1B-1F0528F6E85B}" type="datetimeFigureOut">
              <a:rPr lang="en-GB" smtClean="0"/>
              <a:t>19/08/2026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416353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434DF809-B84D-41F4-AA1B-1F0528F6E85B}" type="datetimeFigureOut">
              <a:rPr lang="en-GB" smtClean="0"/>
              <a:t>19/08/2026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1763866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434DF809-B84D-41F4-AA1B-1F0528F6E85B}" type="datetimeFigureOut">
              <a:rPr lang="en-GB" smtClean="0"/>
              <a:t>19/08/2026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2854394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4DF809-B84D-41F4-AA1B-1F0528F6E85B}" type="datetimeFigureOut">
              <a:rPr lang="en-GB" smtClean="0"/>
              <a:t>19/08/2026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3671649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34DF809-B84D-41F4-AA1B-1F0528F6E85B}" type="datetimeFigureOut">
              <a:rPr lang="en-GB" smtClean="0"/>
              <a:t>19/08/2026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2994032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34DF809-B84D-41F4-AA1B-1F0528F6E85B}" type="datetimeFigureOut">
              <a:rPr lang="en-GB" smtClean="0"/>
              <a:t>19/08/2026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1992242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434DF809-B84D-41F4-AA1B-1F0528F6E85B}" type="datetimeFigureOut">
              <a:rPr lang="en-GB" smtClean="0"/>
              <a:t>19/08/2026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77843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434DF809-B84D-41F4-AA1B-1F0528F6E85B}" type="datetimeFigureOut">
              <a:rPr lang="en-GB" smtClean="0"/>
              <a:t>19/08/2026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70719D-D5CC-4449-9935-2C9B77E9A2BF}" type="slidenum">
              <a:rPr lang="en-GB" smtClean="0"/>
              <a:t>‹#›</a:t>
            </a:fld>
            <a:endParaRPr lang="en-GB"/>
          </a:p>
        </p:txBody>
      </p:sp>
    </p:spTree>
    <p:extLst>
      <p:ext uri="{BB962C8B-B14F-4D97-AF65-F5344CB8AC3E}">
        <p14:creationId xmlns:p14="http://schemas.microsoft.com/office/powerpoint/2010/main" val="647040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33701"/>
            <a:ext cx="10515600" cy="122911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2142203"/>
            <a:ext cx="10515600" cy="403475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4DF809-B84D-41F4-AA1B-1F0528F6E85B}" type="datetimeFigureOut">
              <a:rPr lang="en-GB" smtClean="0"/>
              <a:t>19/08/2026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70719D-D5CC-4449-9935-2C9B77E9A2BF}" type="slidenum">
              <a:rPr lang="en-GB" smtClean="0"/>
              <a:t>‹#›</a:t>
            </a:fld>
            <a:endParaRPr lang="en-GB"/>
          </a:p>
        </p:txBody>
      </p:sp>
      <p:pic>
        <p:nvPicPr>
          <p:cNvPr id="8" name="Picture 7"/>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982200" y="377629"/>
            <a:ext cx="1719219" cy="532756"/>
          </a:xfrm>
          <a:prstGeom prst="rect">
            <a:avLst/>
          </a:prstGeom>
        </p:spPr>
      </p:pic>
      <p:pic>
        <p:nvPicPr>
          <p:cNvPr id="11" name="Picture 10"/>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6350082"/>
            <a:ext cx="6096000" cy="507918"/>
          </a:xfrm>
          <a:prstGeom prst="rect">
            <a:avLst/>
          </a:prstGeom>
        </p:spPr>
      </p:pic>
      <p:pic>
        <p:nvPicPr>
          <p:cNvPr id="12" name="Picture 11"/>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6096000" y="6350082"/>
            <a:ext cx="6096000" cy="507918"/>
          </a:xfrm>
          <a:prstGeom prst="rect">
            <a:avLst/>
          </a:prstGeom>
        </p:spPr>
      </p:pic>
    </p:spTree>
    <p:extLst>
      <p:ext uri="{BB962C8B-B14F-4D97-AF65-F5344CB8AC3E}">
        <p14:creationId xmlns:p14="http://schemas.microsoft.com/office/powerpoint/2010/main" val="1803641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8.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8.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8.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8.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8.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8.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8.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8.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8.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8.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8.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8.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8.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8.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8.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8.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8.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8.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8.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8.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8.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8.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8.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8.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8.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8.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8.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8.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8.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8.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8.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AEB42C88-1F32-97BB-7230-B3BCED282D2B}"/>
              </a:ext>
            </a:extLst>
          </p:cNvPr>
          <p:cNvSpPr/>
          <p:nvPr/>
        </p:nvSpPr>
        <p:spPr>
          <a:xfrm>
            <a:off x="822960" y="1965960"/>
            <a:ext cx="7498080" cy="548640"/>
          </a:xfrm>
          <a:prstGeom prst="rect">
            <a:avLst/>
          </a:prstGeom>
          <a:noFill/>
          <a:ln/>
        </p:spPr>
        <p:txBody>
          <a:bodyPr wrap="square" rtlCol="0" anchor="ctr"/>
          <a:lstStyle/>
          <a:p>
            <a:pPr marL="0" indent="0">
              <a:buNone/>
            </a:pPr>
            <a:r>
              <a:rPr lang="en-US" sz="2800" b="1" kern="0" spc="200" dirty="0">
                <a:solidFill>
                  <a:srgbClr val="FF9900"/>
                </a:solidFill>
                <a:latin typeface="Calibri" pitchFamily="34" charset="0"/>
                <a:ea typeface="Calibri" pitchFamily="34" charset="-122"/>
                <a:cs typeface="Calibri" pitchFamily="34" charset="-120"/>
              </a:rPr>
              <a:t>AWS CLOUD ENGINEER</a:t>
            </a:r>
            <a:endParaRPr lang="en-US" sz="2800" dirty="0"/>
          </a:p>
        </p:txBody>
      </p:sp>
      <p:sp>
        <p:nvSpPr>
          <p:cNvPr id="5" name="Text 3">
            <a:extLst>
              <a:ext uri="{FF2B5EF4-FFF2-40B4-BE49-F238E27FC236}">
                <a16:creationId xmlns:a16="http://schemas.microsoft.com/office/drawing/2014/main" id="{F80DD509-8110-8CFB-F399-684320A9BF8D}"/>
              </a:ext>
            </a:extLst>
          </p:cNvPr>
          <p:cNvSpPr/>
          <p:nvPr/>
        </p:nvSpPr>
        <p:spPr>
          <a:xfrm>
            <a:off x="822960" y="2423160"/>
            <a:ext cx="7498080" cy="1005840"/>
          </a:xfrm>
          <a:prstGeom prst="rect">
            <a:avLst/>
          </a:prstGeom>
          <a:noFill/>
          <a:ln/>
        </p:spPr>
        <p:txBody>
          <a:bodyPr wrap="square"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6-Week Bootcamp</a:t>
            </a:r>
            <a:endParaRPr lang="en-US" sz="4600" dirty="0"/>
          </a:p>
        </p:txBody>
      </p:sp>
      <p:sp>
        <p:nvSpPr>
          <p:cNvPr id="6" name="Text 4">
            <a:extLst>
              <a:ext uri="{FF2B5EF4-FFF2-40B4-BE49-F238E27FC236}">
                <a16:creationId xmlns:a16="http://schemas.microsoft.com/office/drawing/2014/main" id="{A21ECDD2-446F-B188-C32E-74E1A3658E2B}"/>
              </a:ext>
            </a:extLst>
          </p:cNvPr>
          <p:cNvSpPr/>
          <p:nvPr/>
        </p:nvSpPr>
        <p:spPr>
          <a:xfrm>
            <a:off x="727117" y="3350623"/>
            <a:ext cx="7315200" cy="548640"/>
          </a:xfrm>
          <a:prstGeom prst="rect">
            <a:avLst/>
          </a:prstGeom>
          <a:noFill/>
          <a:ln/>
        </p:spPr>
        <p:txBody>
          <a:bodyPr wrap="square" rtlCol="0" anchor="ctr"/>
          <a:lstStyle/>
          <a:p>
            <a:pPr marL="0" indent="0">
              <a:lnSpc>
                <a:spcPct val="130000"/>
              </a:lnSpc>
              <a:buNone/>
            </a:pPr>
            <a:r>
              <a:rPr lang="en-US" sz="1600" dirty="0">
                <a:solidFill>
                  <a:srgbClr val="C9D6E3"/>
                </a:solidFill>
                <a:latin typeface="Calibri" pitchFamily="34" charset="0"/>
                <a:ea typeface="Calibri" pitchFamily="34" charset="-122"/>
                <a:cs typeface="Calibri" pitchFamily="34" charset="-120"/>
              </a:rPr>
              <a:t>18 Sessions  •  3x Weekly  •  Hands-On Labs</a:t>
            </a:r>
            <a:endParaRPr lang="en-US" sz="1600" dirty="0"/>
          </a:p>
        </p:txBody>
      </p:sp>
      <p:sp>
        <p:nvSpPr>
          <p:cNvPr id="7" name="Text 5">
            <a:extLst>
              <a:ext uri="{FF2B5EF4-FFF2-40B4-BE49-F238E27FC236}">
                <a16:creationId xmlns:a16="http://schemas.microsoft.com/office/drawing/2014/main" id="{7161A3B4-D542-2B2D-584B-93D79A232E6D}"/>
              </a:ext>
            </a:extLst>
          </p:cNvPr>
          <p:cNvSpPr/>
          <p:nvPr/>
        </p:nvSpPr>
        <p:spPr>
          <a:xfrm>
            <a:off x="822960" y="4800600"/>
            <a:ext cx="5486400" cy="365760"/>
          </a:xfrm>
          <a:prstGeom prst="rect">
            <a:avLst/>
          </a:prstGeom>
          <a:noFill/>
          <a:ln/>
        </p:spPr>
        <p:txBody>
          <a:bodyPr wrap="square" rtlCol="0" anchor="ctr"/>
          <a:lstStyle/>
          <a:p>
            <a:pPr marL="0" indent="0">
              <a:buNone/>
            </a:pPr>
            <a:r>
              <a:rPr lang="en-US" sz="2800" b="1" kern="0" spc="150" dirty="0">
                <a:solidFill>
                  <a:srgbClr val="8FA3B8"/>
                </a:solidFill>
                <a:latin typeface="Calibri" pitchFamily="34" charset="0"/>
                <a:ea typeface="Calibri" pitchFamily="34" charset="-122"/>
                <a:cs typeface="Calibri" pitchFamily="34" charset="-120"/>
              </a:rPr>
              <a:t>Constantine Ukah</a:t>
            </a:r>
            <a:endParaRPr lang="en-US" sz="2800" dirty="0"/>
          </a:p>
        </p:txBody>
      </p:sp>
      <p:grpSp>
        <p:nvGrpSpPr>
          <p:cNvPr id="11" name="Group 10">
            <a:extLst>
              <a:ext uri="{FF2B5EF4-FFF2-40B4-BE49-F238E27FC236}">
                <a16:creationId xmlns:a16="http://schemas.microsoft.com/office/drawing/2014/main" id="{C3B5E98E-79C8-1F76-2BFC-FA4E1C7E60B4}"/>
              </a:ext>
            </a:extLst>
          </p:cNvPr>
          <p:cNvGrpSpPr/>
          <p:nvPr/>
        </p:nvGrpSpPr>
        <p:grpSpPr>
          <a:xfrm>
            <a:off x="8138160" y="2034577"/>
            <a:ext cx="2975138" cy="2824997"/>
            <a:chOff x="8138160" y="2034577"/>
            <a:chExt cx="2975138" cy="2824997"/>
          </a:xfrm>
        </p:grpSpPr>
        <p:sp>
          <p:nvSpPr>
            <p:cNvPr id="8" name="Shape 6">
              <a:extLst>
                <a:ext uri="{FF2B5EF4-FFF2-40B4-BE49-F238E27FC236}">
                  <a16:creationId xmlns:a16="http://schemas.microsoft.com/office/drawing/2014/main" id="{46820930-41B4-4A8F-532E-6AFC25099132}"/>
                </a:ext>
              </a:extLst>
            </p:cNvPr>
            <p:cNvSpPr/>
            <p:nvPr/>
          </p:nvSpPr>
          <p:spPr>
            <a:xfrm rot="2682870">
              <a:off x="8182637" y="2034577"/>
              <a:ext cx="2904673" cy="2824997"/>
            </a:xfrm>
            <a:prstGeom prst="rect">
              <a:avLst/>
            </a:prstGeom>
            <a:solidFill>
              <a:srgbClr val="FFFFFF">
                <a:alpha val="8000"/>
              </a:srgbClr>
            </a:solidFill>
            <a:ln w="19050">
              <a:solidFill>
                <a:srgbClr val="FFFFFF"/>
              </a:solidFill>
              <a:prstDash val="solid"/>
            </a:ln>
          </p:spPr>
          <p:txBody>
            <a:bodyPr/>
            <a:lstStyle/>
            <a:p>
              <a:endParaRPr lang="en-NG"/>
            </a:p>
          </p:txBody>
        </p:sp>
        <p:sp>
          <p:nvSpPr>
            <p:cNvPr id="10" name="Shape 6">
              <a:extLst>
                <a:ext uri="{FF2B5EF4-FFF2-40B4-BE49-F238E27FC236}">
                  <a16:creationId xmlns:a16="http://schemas.microsoft.com/office/drawing/2014/main" id="{6E01725A-195C-D0F2-FB38-E51FA206A52D}"/>
                </a:ext>
              </a:extLst>
            </p:cNvPr>
            <p:cNvSpPr/>
            <p:nvPr/>
          </p:nvSpPr>
          <p:spPr>
            <a:xfrm rot="10800000">
              <a:off x="8138160" y="2236313"/>
              <a:ext cx="2975138" cy="2385373"/>
            </a:xfrm>
            <a:prstGeom prst="rect">
              <a:avLst/>
            </a:prstGeom>
            <a:solidFill>
              <a:srgbClr val="FFFFFF">
                <a:alpha val="8000"/>
              </a:srgbClr>
            </a:solidFill>
            <a:ln w="19050">
              <a:solidFill>
                <a:srgbClr val="FFFFFF"/>
              </a:solidFill>
              <a:prstDash val="solid"/>
            </a:ln>
          </p:spPr>
          <p:txBody>
            <a:bodyPr/>
            <a:lstStyle/>
            <a:p>
              <a:endParaRPr lang="en-NG" dirty="0"/>
            </a:p>
          </p:txBody>
        </p:sp>
        <p:sp>
          <p:nvSpPr>
            <p:cNvPr id="9" name="Text 7">
              <a:extLst>
                <a:ext uri="{FF2B5EF4-FFF2-40B4-BE49-F238E27FC236}">
                  <a16:creationId xmlns:a16="http://schemas.microsoft.com/office/drawing/2014/main" id="{FFE0A8B5-AF18-CDB3-D8FA-D83E7D4D53EF}"/>
                </a:ext>
              </a:extLst>
            </p:cNvPr>
            <p:cNvSpPr/>
            <p:nvPr/>
          </p:nvSpPr>
          <p:spPr>
            <a:xfrm>
              <a:off x="8492984" y="2880360"/>
              <a:ext cx="2185901" cy="1005840"/>
            </a:xfrm>
            <a:prstGeom prst="rect">
              <a:avLst/>
            </a:prstGeom>
            <a:noFill/>
            <a:ln/>
          </p:spPr>
          <p:txBody>
            <a:bodyPr wrap="square" rtlCol="0" anchor="ctr"/>
            <a:lstStyle/>
            <a:p>
              <a:pPr marL="0" indent="0" algn="ctr">
                <a:buNone/>
              </a:pPr>
              <a:r>
                <a:rPr lang="en-US" sz="3200" b="1" dirty="0">
                  <a:solidFill>
                    <a:srgbClr val="FFC000"/>
                  </a:solidFill>
                  <a:latin typeface="Calibri" pitchFamily="34" charset="0"/>
                  <a:ea typeface="Calibri" pitchFamily="34" charset="-122"/>
                  <a:cs typeface="Calibri" pitchFamily="34" charset="-120"/>
                </a:rPr>
                <a:t>AWS</a:t>
              </a:r>
              <a:endParaRPr lang="en-US" sz="2400" dirty="0">
                <a:solidFill>
                  <a:srgbClr val="FFC000"/>
                </a:solidFill>
              </a:endParaRPr>
            </a:p>
          </p:txBody>
        </p:sp>
      </p:grpSp>
    </p:spTree>
    <p:extLst>
      <p:ext uri="{BB962C8B-B14F-4D97-AF65-F5344CB8AC3E}">
        <p14:creationId xmlns:p14="http://schemas.microsoft.com/office/powerpoint/2010/main" val="1332350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ROADMAP</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6-Week Bootcamp Roadmap</a:t>
            </a:r>
            <a:endParaRPr lang="en-US" sz="3000" dirty="0"/>
          </a:p>
        </p:txBody>
      </p:sp>
      <p:sp>
        <p:nvSpPr>
          <p:cNvPr id="5" name="Shape 3"/>
          <p:cNvSpPr/>
          <p:nvPr/>
        </p:nvSpPr>
        <p:spPr>
          <a:xfrm>
            <a:off x="502920" y="1874520"/>
            <a:ext cx="5408676" cy="1371600"/>
          </a:xfrm>
          <a:prstGeom prst="roundRect">
            <a:avLst>
              <a:gd name="adj" fmla="val 4000"/>
            </a:avLst>
          </a:prstGeom>
          <a:solidFill>
            <a:srgbClr val="F7F9FC"/>
          </a:solidFill>
          <a:ln w="12700">
            <a:solidFill>
              <a:srgbClr val="E4E9F0"/>
            </a:solidFill>
            <a:prstDash val="solid"/>
          </a:ln>
        </p:spPr>
        <p:txBody>
          <a:bodyPr/>
          <a:lstStyle/>
          <a:p>
            <a:endParaRPr lang="en-NG"/>
          </a:p>
        </p:txBody>
      </p:sp>
      <p:sp>
        <p:nvSpPr>
          <p:cNvPr id="6" name="Shape 4"/>
          <p:cNvSpPr/>
          <p:nvPr/>
        </p:nvSpPr>
        <p:spPr>
          <a:xfrm>
            <a:off x="640080" y="2039112"/>
            <a:ext cx="777240" cy="777240"/>
          </a:xfrm>
          <a:prstGeom prst="roundRect">
            <a:avLst>
              <a:gd name="adj" fmla="val 9412"/>
            </a:avLst>
          </a:prstGeom>
          <a:solidFill>
            <a:srgbClr val="232F3E"/>
          </a:solidFill>
          <a:ln/>
        </p:spPr>
        <p:txBody>
          <a:bodyPr/>
          <a:lstStyle/>
          <a:p>
            <a:endParaRPr lang="en-NG"/>
          </a:p>
        </p:txBody>
      </p:sp>
      <p:sp>
        <p:nvSpPr>
          <p:cNvPr id="7" name="Text 5"/>
          <p:cNvSpPr/>
          <p:nvPr/>
        </p:nvSpPr>
        <p:spPr>
          <a:xfrm>
            <a:off x="640080" y="2039112"/>
            <a:ext cx="77724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W1</a:t>
            </a:r>
            <a:endParaRPr lang="en-US" sz="2000" dirty="0"/>
          </a:p>
        </p:txBody>
      </p:sp>
      <p:sp>
        <p:nvSpPr>
          <p:cNvPr id="8" name="Text 6"/>
          <p:cNvSpPr/>
          <p:nvPr/>
        </p:nvSpPr>
        <p:spPr>
          <a:xfrm>
            <a:off x="1554480" y="2011680"/>
            <a:ext cx="4219956" cy="41148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Cloud &amp; AWS Foundations</a:t>
            </a:r>
            <a:endParaRPr lang="en-US" sz="1500" dirty="0"/>
          </a:p>
        </p:txBody>
      </p:sp>
      <p:sp>
        <p:nvSpPr>
          <p:cNvPr id="9" name="Text 7"/>
          <p:cNvSpPr/>
          <p:nvPr/>
        </p:nvSpPr>
        <p:spPr>
          <a:xfrm>
            <a:off x="1554480" y="2404872"/>
            <a:ext cx="4219956" cy="365760"/>
          </a:xfrm>
          <a:prstGeom prst="rect">
            <a:avLst/>
          </a:prstGeom>
          <a:noFill/>
          <a:ln/>
        </p:spPr>
        <p:txBody>
          <a:bodyPr wrap="square"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From zero to a working, secured AWS account</a:t>
            </a:r>
            <a:endParaRPr lang="en-US" sz="1050" dirty="0"/>
          </a:p>
        </p:txBody>
      </p:sp>
      <p:sp>
        <p:nvSpPr>
          <p:cNvPr id="10" name="Text 8"/>
          <p:cNvSpPr/>
          <p:nvPr/>
        </p:nvSpPr>
        <p:spPr>
          <a:xfrm>
            <a:off x="1554480" y="2788920"/>
            <a:ext cx="4219956" cy="365760"/>
          </a:xfrm>
          <a:prstGeom prst="rect">
            <a:avLst/>
          </a:prstGeom>
          <a:noFill/>
          <a:ln/>
        </p:spPr>
        <p:txBody>
          <a:bodyPr wrap="square" rtlCol="0" anchor="ctr"/>
          <a:lstStyle/>
          <a:p>
            <a:pPr marL="0" indent="0">
              <a:buNone/>
            </a:pPr>
            <a:r>
              <a:rPr lang="en-US" sz="900" dirty="0">
                <a:solidFill>
                  <a:srgbClr val="5A6B7A"/>
                </a:solidFill>
                <a:latin typeface="Calibri" pitchFamily="34" charset="0"/>
                <a:ea typeface="Calibri" pitchFamily="34" charset="-122"/>
                <a:cs typeface="Calibri" pitchFamily="34" charset="-120"/>
              </a:rPr>
              <a:t>S1   •   S2   •   S3   What is Cloud Computing?  |  AWS Account Setup, Billing Safety &amp; Root User Security  |  IAM Deep Dive — Users, Groups, Roles &amp; Policies</a:t>
            </a:r>
            <a:endParaRPr lang="en-US" sz="900" dirty="0"/>
          </a:p>
        </p:txBody>
      </p:sp>
      <p:sp>
        <p:nvSpPr>
          <p:cNvPr id="11" name="Shape 9"/>
          <p:cNvSpPr/>
          <p:nvPr/>
        </p:nvSpPr>
        <p:spPr>
          <a:xfrm>
            <a:off x="6277356" y="1874520"/>
            <a:ext cx="5408676" cy="1371600"/>
          </a:xfrm>
          <a:prstGeom prst="roundRect">
            <a:avLst>
              <a:gd name="adj" fmla="val 4000"/>
            </a:avLst>
          </a:prstGeom>
          <a:solidFill>
            <a:srgbClr val="F7F9FC"/>
          </a:solidFill>
          <a:ln w="12700">
            <a:solidFill>
              <a:srgbClr val="E4E9F0"/>
            </a:solidFill>
            <a:prstDash val="solid"/>
          </a:ln>
        </p:spPr>
        <p:txBody>
          <a:bodyPr/>
          <a:lstStyle/>
          <a:p>
            <a:endParaRPr lang="en-NG"/>
          </a:p>
        </p:txBody>
      </p:sp>
      <p:sp>
        <p:nvSpPr>
          <p:cNvPr id="12" name="Shape 10"/>
          <p:cNvSpPr/>
          <p:nvPr/>
        </p:nvSpPr>
        <p:spPr>
          <a:xfrm>
            <a:off x="6414516" y="2039112"/>
            <a:ext cx="777240" cy="777240"/>
          </a:xfrm>
          <a:prstGeom prst="roundRect">
            <a:avLst>
              <a:gd name="adj" fmla="val 9412"/>
            </a:avLst>
          </a:prstGeom>
          <a:solidFill>
            <a:srgbClr val="FF9900"/>
          </a:solidFill>
          <a:ln/>
        </p:spPr>
        <p:txBody>
          <a:bodyPr/>
          <a:lstStyle/>
          <a:p>
            <a:endParaRPr lang="en-NG"/>
          </a:p>
        </p:txBody>
      </p:sp>
      <p:sp>
        <p:nvSpPr>
          <p:cNvPr id="13" name="Text 11"/>
          <p:cNvSpPr/>
          <p:nvPr/>
        </p:nvSpPr>
        <p:spPr>
          <a:xfrm>
            <a:off x="6414516" y="2039112"/>
            <a:ext cx="77724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W2</a:t>
            </a:r>
            <a:endParaRPr lang="en-US" sz="2000" dirty="0"/>
          </a:p>
        </p:txBody>
      </p:sp>
      <p:sp>
        <p:nvSpPr>
          <p:cNvPr id="14" name="Text 12"/>
          <p:cNvSpPr/>
          <p:nvPr/>
        </p:nvSpPr>
        <p:spPr>
          <a:xfrm>
            <a:off x="7328916" y="2011680"/>
            <a:ext cx="4219956" cy="41148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Compute &amp; Storage</a:t>
            </a:r>
            <a:endParaRPr lang="en-US" sz="1500" dirty="0"/>
          </a:p>
        </p:txBody>
      </p:sp>
      <p:sp>
        <p:nvSpPr>
          <p:cNvPr id="15" name="Text 13"/>
          <p:cNvSpPr/>
          <p:nvPr/>
        </p:nvSpPr>
        <p:spPr>
          <a:xfrm>
            <a:off x="7328916" y="2404872"/>
            <a:ext cx="4219956" cy="365760"/>
          </a:xfrm>
          <a:prstGeom prst="rect">
            <a:avLst/>
          </a:prstGeom>
          <a:noFill/>
          <a:ln/>
        </p:spPr>
        <p:txBody>
          <a:bodyPr wrap="square"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Launch, connect to, and store data for real workloads</a:t>
            </a:r>
            <a:endParaRPr lang="en-US" sz="1050" dirty="0"/>
          </a:p>
        </p:txBody>
      </p:sp>
      <p:sp>
        <p:nvSpPr>
          <p:cNvPr id="16" name="Text 14"/>
          <p:cNvSpPr/>
          <p:nvPr/>
        </p:nvSpPr>
        <p:spPr>
          <a:xfrm>
            <a:off x="7328916" y="2788920"/>
            <a:ext cx="4219956" cy="365760"/>
          </a:xfrm>
          <a:prstGeom prst="rect">
            <a:avLst/>
          </a:prstGeom>
          <a:noFill/>
          <a:ln/>
        </p:spPr>
        <p:txBody>
          <a:bodyPr wrap="square" rtlCol="0" anchor="ctr"/>
          <a:lstStyle/>
          <a:p>
            <a:pPr marL="0" indent="0">
              <a:buNone/>
            </a:pPr>
            <a:r>
              <a:rPr lang="en-US" sz="900" dirty="0">
                <a:solidFill>
                  <a:srgbClr val="5A6B7A"/>
                </a:solidFill>
                <a:latin typeface="Calibri" pitchFamily="34" charset="0"/>
                <a:ea typeface="Calibri" pitchFamily="34" charset="-122"/>
                <a:cs typeface="Calibri" pitchFamily="34" charset="-120"/>
              </a:rPr>
              <a:t>S4   •   S5   •   S6   EC2 Fundamentals — Launching Your First Server  |  EC2 Automation, Elastic IPs &amp; Auto Scaling Basics  |  S3 Deep Dive — Storage Classes, Policies &amp; Static Hosting</a:t>
            </a:r>
            <a:endParaRPr lang="en-US" sz="900" dirty="0"/>
          </a:p>
        </p:txBody>
      </p:sp>
      <p:sp>
        <p:nvSpPr>
          <p:cNvPr id="17" name="Shape 15"/>
          <p:cNvSpPr/>
          <p:nvPr/>
        </p:nvSpPr>
        <p:spPr>
          <a:xfrm>
            <a:off x="502920" y="3429000"/>
            <a:ext cx="5408676" cy="1371600"/>
          </a:xfrm>
          <a:prstGeom prst="roundRect">
            <a:avLst>
              <a:gd name="adj" fmla="val 4000"/>
            </a:avLst>
          </a:prstGeom>
          <a:solidFill>
            <a:srgbClr val="F7F9FC"/>
          </a:solidFill>
          <a:ln w="12700">
            <a:solidFill>
              <a:srgbClr val="E4E9F0"/>
            </a:solidFill>
            <a:prstDash val="solid"/>
          </a:ln>
        </p:spPr>
        <p:txBody>
          <a:bodyPr/>
          <a:lstStyle/>
          <a:p>
            <a:endParaRPr lang="en-NG"/>
          </a:p>
        </p:txBody>
      </p:sp>
      <p:sp>
        <p:nvSpPr>
          <p:cNvPr id="18" name="Shape 16"/>
          <p:cNvSpPr/>
          <p:nvPr/>
        </p:nvSpPr>
        <p:spPr>
          <a:xfrm>
            <a:off x="640080" y="3593592"/>
            <a:ext cx="777240" cy="777240"/>
          </a:xfrm>
          <a:prstGeom prst="roundRect">
            <a:avLst>
              <a:gd name="adj" fmla="val 9412"/>
            </a:avLst>
          </a:prstGeom>
          <a:solidFill>
            <a:srgbClr val="2471A3"/>
          </a:solidFill>
          <a:ln/>
        </p:spPr>
        <p:txBody>
          <a:bodyPr/>
          <a:lstStyle/>
          <a:p>
            <a:endParaRPr lang="en-NG"/>
          </a:p>
        </p:txBody>
      </p:sp>
      <p:sp>
        <p:nvSpPr>
          <p:cNvPr id="19" name="Text 17"/>
          <p:cNvSpPr/>
          <p:nvPr/>
        </p:nvSpPr>
        <p:spPr>
          <a:xfrm>
            <a:off x="640080" y="3593592"/>
            <a:ext cx="77724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W3</a:t>
            </a:r>
            <a:endParaRPr lang="en-US" sz="2000" dirty="0"/>
          </a:p>
        </p:txBody>
      </p:sp>
      <p:sp>
        <p:nvSpPr>
          <p:cNvPr id="20" name="Text 18"/>
          <p:cNvSpPr/>
          <p:nvPr/>
        </p:nvSpPr>
        <p:spPr>
          <a:xfrm>
            <a:off x="1554480" y="3566160"/>
            <a:ext cx="4219956" cy="41148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Networking Essentials</a:t>
            </a:r>
            <a:endParaRPr lang="en-US" sz="1500" dirty="0"/>
          </a:p>
        </p:txBody>
      </p:sp>
      <p:sp>
        <p:nvSpPr>
          <p:cNvPr id="21" name="Text 19"/>
          <p:cNvSpPr/>
          <p:nvPr/>
        </p:nvSpPr>
        <p:spPr>
          <a:xfrm>
            <a:off x="1554480" y="3959352"/>
            <a:ext cx="4219956" cy="365760"/>
          </a:xfrm>
          <a:prstGeom prst="rect">
            <a:avLst/>
          </a:prstGeom>
          <a:noFill/>
          <a:ln/>
        </p:spPr>
        <p:txBody>
          <a:bodyPr wrap="square"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Design secure, production-grade network architecture</a:t>
            </a:r>
            <a:endParaRPr lang="en-US" sz="1050" dirty="0"/>
          </a:p>
        </p:txBody>
      </p:sp>
      <p:sp>
        <p:nvSpPr>
          <p:cNvPr id="22" name="Text 20"/>
          <p:cNvSpPr/>
          <p:nvPr/>
        </p:nvSpPr>
        <p:spPr>
          <a:xfrm>
            <a:off x="1554480" y="4343400"/>
            <a:ext cx="4219956" cy="365760"/>
          </a:xfrm>
          <a:prstGeom prst="rect">
            <a:avLst/>
          </a:prstGeom>
          <a:noFill/>
          <a:ln/>
        </p:spPr>
        <p:txBody>
          <a:bodyPr wrap="square" rtlCol="0" anchor="ctr"/>
          <a:lstStyle/>
          <a:p>
            <a:pPr marL="0" indent="0">
              <a:buNone/>
            </a:pPr>
            <a:r>
              <a:rPr lang="en-US" sz="900" dirty="0">
                <a:solidFill>
                  <a:srgbClr val="5A6B7A"/>
                </a:solidFill>
                <a:latin typeface="Calibri" pitchFamily="34" charset="0"/>
                <a:ea typeface="Calibri" pitchFamily="34" charset="-122"/>
                <a:cs typeface="Calibri" pitchFamily="34" charset="-120"/>
              </a:rPr>
              <a:t>S7   •   S8   •   S9   VPC Fundamentals — Building Your Own Network  |  Security Groups, NACLs &amp; Bastion Hosts  |  Load Balancing &amp; High Availability</a:t>
            </a:r>
            <a:endParaRPr lang="en-US" sz="900" dirty="0"/>
          </a:p>
        </p:txBody>
      </p:sp>
      <p:sp>
        <p:nvSpPr>
          <p:cNvPr id="23" name="Shape 21"/>
          <p:cNvSpPr/>
          <p:nvPr/>
        </p:nvSpPr>
        <p:spPr>
          <a:xfrm>
            <a:off x="6277356" y="3429000"/>
            <a:ext cx="5408676" cy="1371600"/>
          </a:xfrm>
          <a:prstGeom prst="roundRect">
            <a:avLst>
              <a:gd name="adj" fmla="val 4000"/>
            </a:avLst>
          </a:prstGeom>
          <a:solidFill>
            <a:srgbClr val="F7F9FC"/>
          </a:solidFill>
          <a:ln w="12700">
            <a:solidFill>
              <a:srgbClr val="E4E9F0"/>
            </a:solidFill>
            <a:prstDash val="solid"/>
          </a:ln>
        </p:spPr>
        <p:txBody>
          <a:bodyPr/>
          <a:lstStyle/>
          <a:p>
            <a:endParaRPr lang="en-NG"/>
          </a:p>
        </p:txBody>
      </p:sp>
      <p:sp>
        <p:nvSpPr>
          <p:cNvPr id="24" name="Shape 22"/>
          <p:cNvSpPr/>
          <p:nvPr/>
        </p:nvSpPr>
        <p:spPr>
          <a:xfrm>
            <a:off x="6414516" y="3593592"/>
            <a:ext cx="777240" cy="777240"/>
          </a:xfrm>
          <a:prstGeom prst="roundRect">
            <a:avLst>
              <a:gd name="adj" fmla="val 9412"/>
            </a:avLst>
          </a:prstGeom>
          <a:solidFill>
            <a:srgbClr val="1D8348"/>
          </a:solidFill>
          <a:ln/>
        </p:spPr>
        <p:txBody>
          <a:bodyPr/>
          <a:lstStyle/>
          <a:p>
            <a:endParaRPr lang="en-NG"/>
          </a:p>
        </p:txBody>
      </p:sp>
      <p:sp>
        <p:nvSpPr>
          <p:cNvPr id="25" name="Text 23"/>
          <p:cNvSpPr/>
          <p:nvPr/>
        </p:nvSpPr>
        <p:spPr>
          <a:xfrm>
            <a:off x="6414516" y="3593592"/>
            <a:ext cx="77724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W4</a:t>
            </a:r>
            <a:endParaRPr lang="en-US" sz="2000" dirty="0"/>
          </a:p>
        </p:txBody>
      </p:sp>
      <p:sp>
        <p:nvSpPr>
          <p:cNvPr id="26" name="Text 24"/>
          <p:cNvSpPr/>
          <p:nvPr/>
        </p:nvSpPr>
        <p:spPr>
          <a:xfrm>
            <a:off x="7328916" y="3566160"/>
            <a:ext cx="4219956" cy="41148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Databases &amp; Serverless</a:t>
            </a:r>
            <a:endParaRPr lang="en-US" sz="1500" dirty="0"/>
          </a:p>
        </p:txBody>
      </p:sp>
      <p:sp>
        <p:nvSpPr>
          <p:cNvPr id="27" name="Text 25"/>
          <p:cNvSpPr/>
          <p:nvPr/>
        </p:nvSpPr>
        <p:spPr>
          <a:xfrm>
            <a:off x="7328916" y="3959352"/>
            <a:ext cx="4219956" cy="365760"/>
          </a:xfrm>
          <a:prstGeom prst="rect">
            <a:avLst/>
          </a:prstGeom>
          <a:noFill/>
          <a:ln/>
        </p:spPr>
        <p:txBody>
          <a:bodyPr wrap="square"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Managed data stores and event-driven compute</a:t>
            </a:r>
            <a:endParaRPr lang="en-US" sz="1050" dirty="0"/>
          </a:p>
        </p:txBody>
      </p:sp>
      <p:sp>
        <p:nvSpPr>
          <p:cNvPr id="28" name="Text 26"/>
          <p:cNvSpPr/>
          <p:nvPr/>
        </p:nvSpPr>
        <p:spPr>
          <a:xfrm>
            <a:off x="7328916" y="4343400"/>
            <a:ext cx="4219956" cy="365760"/>
          </a:xfrm>
          <a:prstGeom prst="rect">
            <a:avLst/>
          </a:prstGeom>
          <a:noFill/>
          <a:ln/>
        </p:spPr>
        <p:txBody>
          <a:bodyPr wrap="square" rtlCol="0" anchor="ctr"/>
          <a:lstStyle/>
          <a:p>
            <a:pPr marL="0" indent="0">
              <a:buNone/>
            </a:pPr>
            <a:r>
              <a:rPr lang="en-US" sz="900" dirty="0">
                <a:solidFill>
                  <a:srgbClr val="5A6B7A"/>
                </a:solidFill>
                <a:latin typeface="Calibri" pitchFamily="34" charset="0"/>
                <a:ea typeface="Calibri" pitchFamily="34" charset="-122"/>
                <a:cs typeface="Calibri" pitchFamily="34" charset="-120"/>
              </a:rPr>
              <a:t>S10   •   S11   •   S12   RDS — Managed Relational Databases  |  DynamoDB &amp; NoSQL Fundamentals  |  Lambda &amp; Serverless Architecture (API Gateway + Lambda + DynamoDB)</a:t>
            </a:r>
            <a:endParaRPr lang="en-US" sz="900" dirty="0"/>
          </a:p>
        </p:txBody>
      </p:sp>
      <p:sp>
        <p:nvSpPr>
          <p:cNvPr id="29" name="Shape 27"/>
          <p:cNvSpPr/>
          <p:nvPr/>
        </p:nvSpPr>
        <p:spPr>
          <a:xfrm>
            <a:off x="502920" y="4983480"/>
            <a:ext cx="5408676" cy="1371600"/>
          </a:xfrm>
          <a:prstGeom prst="roundRect">
            <a:avLst>
              <a:gd name="adj" fmla="val 4000"/>
            </a:avLst>
          </a:prstGeom>
          <a:solidFill>
            <a:srgbClr val="F7F9FC"/>
          </a:solidFill>
          <a:ln w="12700">
            <a:solidFill>
              <a:srgbClr val="E4E9F0"/>
            </a:solidFill>
            <a:prstDash val="solid"/>
          </a:ln>
        </p:spPr>
        <p:txBody>
          <a:bodyPr/>
          <a:lstStyle/>
          <a:p>
            <a:endParaRPr lang="en-NG"/>
          </a:p>
        </p:txBody>
      </p:sp>
      <p:sp>
        <p:nvSpPr>
          <p:cNvPr id="30" name="Shape 28"/>
          <p:cNvSpPr/>
          <p:nvPr/>
        </p:nvSpPr>
        <p:spPr>
          <a:xfrm>
            <a:off x="640080" y="5148072"/>
            <a:ext cx="777240" cy="777240"/>
          </a:xfrm>
          <a:prstGeom prst="roundRect">
            <a:avLst>
              <a:gd name="adj" fmla="val 9412"/>
            </a:avLst>
          </a:prstGeom>
          <a:solidFill>
            <a:srgbClr val="E07C00"/>
          </a:solidFill>
          <a:ln/>
        </p:spPr>
        <p:txBody>
          <a:bodyPr/>
          <a:lstStyle/>
          <a:p>
            <a:endParaRPr lang="en-NG"/>
          </a:p>
        </p:txBody>
      </p:sp>
      <p:sp>
        <p:nvSpPr>
          <p:cNvPr id="31" name="Text 29"/>
          <p:cNvSpPr/>
          <p:nvPr/>
        </p:nvSpPr>
        <p:spPr>
          <a:xfrm>
            <a:off x="640080" y="5148072"/>
            <a:ext cx="77724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W5</a:t>
            </a:r>
            <a:endParaRPr lang="en-US" sz="2000" dirty="0"/>
          </a:p>
        </p:txBody>
      </p:sp>
      <p:sp>
        <p:nvSpPr>
          <p:cNvPr id="32" name="Text 30"/>
          <p:cNvSpPr/>
          <p:nvPr/>
        </p:nvSpPr>
        <p:spPr>
          <a:xfrm>
            <a:off x="1554480" y="5120640"/>
            <a:ext cx="4219956" cy="41148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Monitoring &amp; Infrastructure as Code</a:t>
            </a:r>
            <a:endParaRPr lang="en-US" sz="1500" dirty="0"/>
          </a:p>
        </p:txBody>
      </p:sp>
      <p:sp>
        <p:nvSpPr>
          <p:cNvPr id="33" name="Text 31"/>
          <p:cNvSpPr/>
          <p:nvPr/>
        </p:nvSpPr>
        <p:spPr>
          <a:xfrm>
            <a:off x="1554480" y="5513832"/>
            <a:ext cx="4219956" cy="365760"/>
          </a:xfrm>
          <a:prstGeom prst="rect">
            <a:avLst/>
          </a:prstGeom>
          <a:noFill/>
          <a:ln/>
        </p:spPr>
        <p:txBody>
          <a:bodyPr wrap="square"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Observe your systems and provision infrastructure as Terraform code</a:t>
            </a:r>
            <a:endParaRPr lang="en-US" sz="1050" dirty="0"/>
          </a:p>
        </p:txBody>
      </p:sp>
      <p:sp>
        <p:nvSpPr>
          <p:cNvPr id="34" name="Text 32"/>
          <p:cNvSpPr/>
          <p:nvPr/>
        </p:nvSpPr>
        <p:spPr>
          <a:xfrm>
            <a:off x="1554480" y="5897880"/>
            <a:ext cx="4219956" cy="365760"/>
          </a:xfrm>
          <a:prstGeom prst="rect">
            <a:avLst/>
          </a:prstGeom>
          <a:noFill/>
          <a:ln/>
        </p:spPr>
        <p:txBody>
          <a:bodyPr wrap="square" rtlCol="0" anchor="ctr"/>
          <a:lstStyle/>
          <a:p>
            <a:pPr marL="0" indent="0">
              <a:buNone/>
            </a:pPr>
            <a:r>
              <a:rPr lang="en-US" sz="900" dirty="0">
                <a:solidFill>
                  <a:srgbClr val="5A6B7A"/>
                </a:solidFill>
                <a:latin typeface="Calibri" pitchFamily="34" charset="0"/>
                <a:ea typeface="Calibri" pitchFamily="34" charset="-122"/>
                <a:cs typeface="Calibri" pitchFamily="34" charset="-120"/>
              </a:rPr>
              <a:t>S13   •   S14   •   S15   CloudWatch — Monitoring, Metrics, Logs &amp; Alarms  |  Infrastructure as Code — Terraform Fundamentals  |  Terraform for Multi-Tier Infrastructure</a:t>
            </a:r>
            <a:endParaRPr lang="en-US" sz="900" dirty="0"/>
          </a:p>
        </p:txBody>
      </p:sp>
      <p:sp>
        <p:nvSpPr>
          <p:cNvPr id="35" name="Shape 33"/>
          <p:cNvSpPr/>
          <p:nvPr/>
        </p:nvSpPr>
        <p:spPr>
          <a:xfrm>
            <a:off x="6277356" y="4983480"/>
            <a:ext cx="5408676" cy="1371600"/>
          </a:xfrm>
          <a:prstGeom prst="roundRect">
            <a:avLst>
              <a:gd name="adj" fmla="val 4000"/>
            </a:avLst>
          </a:prstGeom>
          <a:solidFill>
            <a:srgbClr val="F7F9FC"/>
          </a:solidFill>
          <a:ln w="12700">
            <a:solidFill>
              <a:srgbClr val="E4E9F0"/>
            </a:solidFill>
            <a:prstDash val="solid"/>
          </a:ln>
        </p:spPr>
        <p:txBody>
          <a:bodyPr/>
          <a:lstStyle/>
          <a:p>
            <a:endParaRPr lang="en-NG"/>
          </a:p>
        </p:txBody>
      </p:sp>
      <p:sp>
        <p:nvSpPr>
          <p:cNvPr id="36" name="Shape 34"/>
          <p:cNvSpPr/>
          <p:nvPr/>
        </p:nvSpPr>
        <p:spPr>
          <a:xfrm>
            <a:off x="6414516" y="5148072"/>
            <a:ext cx="777240" cy="777240"/>
          </a:xfrm>
          <a:prstGeom prst="roundRect">
            <a:avLst>
              <a:gd name="adj" fmla="val 9412"/>
            </a:avLst>
          </a:prstGeom>
          <a:solidFill>
            <a:srgbClr val="1B2A4A"/>
          </a:solidFill>
          <a:ln/>
        </p:spPr>
        <p:txBody>
          <a:bodyPr/>
          <a:lstStyle/>
          <a:p>
            <a:endParaRPr lang="en-NG"/>
          </a:p>
        </p:txBody>
      </p:sp>
      <p:sp>
        <p:nvSpPr>
          <p:cNvPr id="37" name="Text 35"/>
          <p:cNvSpPr/>
          <p:nvPr/>
        </p:nvSpPr>
        <p:spPr>
          <a:xfrm>
            <a:off x="6414516" y="5148072"/>
            <a:ext cx="77724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W6</a:t>
            </a:r>
            <a:endParaRPr lang="en-US" sz="2000" dirty="0"/>
          </a:p>
        </p:txBody>
      </p:sp>
      <p:sp>
        <p:nvSpPr>
          <p:cNvPr id="38" name="Text 36"/>
          <p:cNvSpPr/>
          <p:nvPr/>
        </p:nvSpPr>
        <p:spPr>
          <a:xfrm>
            <a:off x="7328916" y="5120640"/>
            <a:ext cx="4219956" cy="41148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Capstone Project &amp; Career Launch</a:t>
            </a:r>
            <a:endParaRPr lang="en-US" sz="1500" dirty="0"/>
          </a:p>
        </p:txBody>
      </p:sp>
      <p:sp>
        <p:nvSpPr>
          <p:cNvPr id="39" name="Text 37"/>
          <p:cNvSpPr/>
          <p:nvPr/>
        </p:nvSpPr>
        <p:spPr>
          <a:xfrm>
            <a:off x="7328916" y="5513832"/>
            <a:ext cx="4219956" cy="365760"/>
          </a:xfrm>
          <a:prstGeom prst="rect">
            <a:avLst/>
          </a:prstGeom>
          <a:noFill/>
          <a:ln/>
        </p:spPr>
        <p:txBody>
          <a:bodyPr wrap="square"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Ship a portfolio project and get interview-ready</a:t>
            </a:r>
            <a:endParaRPr lang="en-US" sz="1050" dirty="0"/>
          </a:p>
        </p:txBody>
      </p:sp>
      <p:sp>
        <p:nvSpPr>
          <p:cNvPr id="40" name="Text 38"/>
          <p:cNvSpPr/>
          <p:nvPr/>
        </p:nvSpPr>
        <p:spPr>
          <a:xfrm>
            <a:off x="7328916" y="5897880"/>
            <a:ext cx="4219956" cy="365760"/>
          </a:xfrm>
          <a:prstGeom prst="rect">
            <a:avLst/>
          </a:prstGeom>
          <a:noFill/>
          <a:ln/>
        </p:spPr>
        <p:txBody>
          <a:bodyPr wrap="square" rtlCol="0" anchor="ctr"/>
          <a:lstStyle/>
          <a:p>
            <a:pPr marL="0" indent="0">
              <a:buNone/>
            </a:pPr>
            <a:r>
              <a:rPr lang="en-US" sz="900" dirty="0">
                <a:solidFill>
                  <a:srgbClr val="5A6B7A"/>
                </a:solidFill>
                <a:latin typeface="Calibri" pitchFamily="34" charset="0"/>
                <a:ea typeface="Calibri" pitchFamily="34" charset="-122"/>
                <a:cs typeface="Calibri" pitchFamily="34" charset="-120"/>
              </a:rPr>
              <a:t>S16   •   S17   •   S18   Capstone Project Kickoff — Full 3-Tier Architecture  |  Capstone Build — Data Layer &amp; Monitoring Integration  |  Capstone Defense, Resume, Portfolio &amp; Mock Interviews</a:t>
            </a:r>
            <a:endParaRPr lang="en-US" sz="900" dirty="0"/>
          </a:p>
        </p:txBody>
      </p:sp>
      <p:sp>
        <p:nvSpPr>
          <p:cNvPr id="41" name="Text 3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Program Overview</a:t>
            </a:r>
            <a:endParaRPr lang="en-US" sz="900" dirty="0"/>
          </a:p>
        </p:txBody>
      </p:sp>
      <p:sp>
        <p:nvSpPr>
          <p:cNvPr id="42" name="Text 4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FOR INSTRUCTORS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How This Bootcamp Is Structured</a:t>
            </a:r>
            <a:endParaRPr lang="en-US" sz="3000" dirty="0"/>
          </a:p>
        </p:txBody>
      </p:sp>
      <p:sp>
        <p:nvSpPr>
          <p:cNvPr id="5" name="Shape 3"/>
          <p:cNvSpPr/>
          <p:nvPr/>
        </p:nvSpPr>
        <p:spPr>
          <a:xfrm>
            <a:off x="502920" y="1874520"/>
            <a:ext cx="502920" cy="502920"/>
          </a:xfrm>
          <a:prstGeom prst="roundRect">
            <a:avLst>
              <a:gd name="adj" fmla="val 10909"/>
            </a:avLst>
          </a:prstGeom>
          <a:solidFill>
            <a:srgbClr val="FF9900"/>
          </a:solidFill>
          <a:ln/>
        </p:spPr>
        <p:txBody>
          <a:bodyPr/>
          <a:lstStyle/>
          <a:p>
            <a:endParaRPr lang="en-NG"/>
          </a:p>
        </p:txBody>
      </p:sp>
      <p:sp>
        <p:nvSpPr>
          <p:cNvPr id="6" name="Text 4"/>
          <p:cNvSpPr/>
          <p:nvPr/>
        </p:nvSpPr>
        <p:spPr>
          <a:xfrm>
            <a:off x="50292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188720" y="1847088"/>
            <a:ext cx="10497312" cy="320040"/>
          </a:xfrm>
          <a:prstGeom prst="rect">
            <a:avLst/>
          </a:prstGeom>
          <a:noFill/>
          <a:ln/>
        </p:spPr>
        <p:txBody>
          <a:bodyPr wrap="square"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Cadence</a:t>
            </a:r>
            <a:endParaRPr lang="en-US" sz="1400" dirty="0"/>
          </a:p>
        </p:txBody>
      </p:sp>
      <p:sp>
        <p:nvSpPr>
          <p:cNvPr id="8" name="Text 6"/>
          <p:cNvSpPr/>
          <p:nvPr/>
        </p:nvSpPr>
        <p:spPr>
          <a:xfrm>
            <a:off x="1188720" y="2167128"/>
            <a:ext cx="10497312" cy="594360"/>
          </a:xfrm>
          <a:prstGeom prst="rect">
            <a:avLst/>
          </a:prstGeom>
          <a:noFill/>
          <a:ln/>
        </p:spPr>
        <p:txBody>
          <a:bodyPr wrap="square" rtlCol="0" anchor="ctr"/>
          <a:lstStyle/>
          <a:p>
            <a:pPr marL="0" indent="0">
              <a:lnSpc>
                <a:spcPct val="115000"/>
              </a:lnSpc>
              <a:buNone/>
            </a:pPr>
            <a:r>
              <a:rPr lang="en-US" sz="1150" dirty="0">
                <a:solidFill>
                  <a:srgbClr val="5A6B7A"/>
                </a:solidFill>
                <a:latin typeface="Calibri" pitchFamily="34" charset="0"/>
                <a:ea typeface="Calibri" pitchFamily="34" charset="-122"/>
                <a:cs typeface="Calibri" pitchFamily="34" charset="-120"/>
              </a:rPr>
              <a:t>3 sessions per week, 18 sessions total across 6 weeks. Each session runs objectives → topics → a hands-on lab tied directly to a job-relevant skill.</a:t>
            </a:r>
            <a:endParaRPr lang="en-US" sz="1150" dirty="0"/>
          </a:p>
        </p:txBody>
      </p:sp>
      <p:sp>
        <p:nvSpPr>
          <p:cNvPr id="9" name="Shape 7"/>
          <p:cNvSpPr/>
          <p:nvPr/>
        </p:nvSpPr>
        <p:spPr>
          <a:xfrm>
            <a:off x="502920" y="2926080"/>
            <a:ext cx="502920" cy="502920"/>
          </a:xfrm>
          <a:prstGeom prst="roundRect">
            <a:avLst>
              <a:gd name="adj" fmla="val 10909"/>
            </a:avLst>
          </a:prstGeom>
          <a:solidFill>
            <a:srgbClr val="FF9900"/>
          </a:solidFill>
          <a:ln/>
        </p:spPr>
        <p:txBody>
          <a:bodyPr/>
          <a:lstStyle/>
          <a:p>
            <a:endParaRPr lang="en-NG"/>
          </a:p>
        </p:txBody>
      </p:sp>
      <p:sp>
        <p:nvSpPr>
          <p:cNvPr id="10" name="Text 8"/>
          <p:cNvSpPr/>
          <p:nvPr/>
        </p:nvSpPr>
        <p:spPr>
          <a:xfrm>
            <a:off x="502920" y="292608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188720" y="2898648"/>
            <a:ext cx="10497312" cy="320040"/>
          </a:xfrm>
          <a:prstGeom prst="rect">
            <a:avLst/>
          </a:prstGeom>
          <a:noFill/>
          <a:ln/>
        </p:spPr>
        <p:txBody>
          <a:bodyPr wrap="square"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Session Format</a:t>
            </a:r>
            <a:endParaRPr lang="en-US" sz="1400" dirty="0"/>
          </a:p>
        </p:txBody>
      </p:sp>
      <p:sp>
        <p:nvSpPr>
          <p:cNvPr id="12" name="Text 10"/>
          <p:cNvSpPr/>
          <p:nvPr/>
        </p:nvSpPr>
        <p:spPr>
          <a:xfrm>
            <a:off x="1188720" y="3218688"/>
            <a:ext cx="10497312" cy="594360"/>
          </a:xfrm>
          <a:prstGeom prst="rect">
            <a:avLst/>
          </a:prstGeom>
          <a:noFill/>
          <a:ln/>
        </p:spPr>
        <p:txBody>
          <a:bodyPr wrap="square" rtlCol="0" anchor="ctr"/>
          <a:lstStyle/>
          <a:p>
            <a:pPr marL="0" indent="0">
              <a:lnSpc>
                <a:spcPct val="115000"/>
              </a:lnSpc>
              <a:buNone/>
            </a:pPr>
            <a:r>
              <a:rPr lang="en-US" sz="1150" dirty="0">
                <a:solidFill>
                  <a:srgbClr val="5A6B7A"/>
                </a:solidFill>
                <a:latin typeface="Calibri" pitchFamily="34" charset="0"/>
                <a:ea typeface="Calibri" pitchFamily="34" charset="-122"/>
                <a:cs typeface="Calibri" pitchFamily="34" charset="-120"/>
              </a:rPr>
              <a:t>Plan for roughly 45-60 min instruction + 60-120 min hands-on lab per session. Labs build cumulatively — Week 3's VPC is reused through Week 6's capstone.</a:t>
            </a:r>
            <a:endParaRPr lang="en-US" sz="1150" dirty="0"/>
          </a:p>
        </p:txBody>
      </p:sp>
      <p:sp>
        <p:nvSpPr>
          <p:cNvPr id="13" name="Shape 11"/>
          <p:cNvSpPr/>
          <p:nvPr/>
        </p:nvSpPr>
        <p:spPr>
          <a:xfrm>
            <a:off x="502920" y="3977640"/>
            <a:ext cx="502920" cy="502920"/>
          </a:xfrm>
          <a:prstGeom prst="roundRect">
            <a:avLst>
              <a:gd name="adj" fmla="val 10909"/>
            </a:avLst>
          </a:prstGeom>
          <a:solidFill>
            <a:srgbClr val="FF9900"/>
          </a:solidFill>
          <a:ln/>
        </p:spPr>
        <p:txBody>
          <a:bodyPr/>
          <a:lstStyle/>
          <a:p>
            <a:endParaRPr lang="en-NG"/>
          </a:p>
        </p:txBody>
      </p:sp>
      <p:sp>
        <p:nvSpPr>
          <p:cNvPr id="14" name="Text 12"/>
          <p:cNvSpPr/>
          <p:nvPr/>
        </p:nvSpPr>
        <p:spPr>
          <a:xfrm>
            <a:off x="502920" y="397764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188720" y="3950208"/>
            <a:ext cx="10497312" cy="320040"/>
          </a:xfrm>
          <a:prstGeom prst="rect">
            <a:avLst/>
          </a:prstGeom>
          <a:noFill/>
          <a:ln/>
        </p:spPr>
        <p:txBody>
          <a:bodyPr wrap="square"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Cost Model</a:t>
            </a:r>
            <a:endParaRPr lang="en-US" sz="1400" dirty="0"/>
          </a:p>
        </p:txBody>
      </p:sp>
      <p:sp>
        <p:nvSpPr>
          <p:cNvPr id="16" name="Text 14"/>
          <p:cNvSpPr/>
          <p:nvPr/>
        </p:nvSpPr>
        <p:spPr>
          <a:xfrm>
            <a:off x="1188720" y="4270248"/>
            <a:ext cx="10497312" cy="594360"/>
          </a:xfrm>
          <a:prstGeom prst="rect">
            <a:avLst/>
          </a:prstGeom>
          <a:noFill/>
          <a:ln/>
        </p:spPr>
        <p:txBody>
          <a:bodyPr wrap="square" rtlCol="0" anchor="ctr"/>
          <a:lstStyle/>
          <a:p>
            <a:pPr marL="0" indent="0">
              <a:lnSpc>
                <a:spcPct val="115000"/>
              </a:lnSpc>
              <a:buNone/>
            </a:pPr>
            <a:r>
              <a:rPr lang="en-US" sz="1150" dirty="0">
                <a:solidFill>
                  <a:srgbClr val="5A6B7A"/>
                </a:solidFill>
                <a:latin typeface="Calibri" pitchFamily="34" charset="0"/>
                <a:ea typeface="Calibri" pitchFamily="34" charset="-122"/>
                <a:cs typeface="Calibri" pitchFamily="34" charset="-120"/>
              </a:rPr>
              <a:t>Nearly all labs fit inside AWS Free Tier. A few Week 5-6 labs (RDS, ALB, NAT if used) may incur small charges if resources are left running — cleanup steps are built into every lab.</a:t>
            </a:r>
            <a:endParaRPr lang="en-US" sz="1150" dirty="0"/>
          </a:p>
        </p:txBody>
      </p:sp>
      <p:sp>
        <p:nvSpPr>
          <p:cNvPr id="17" name="Shape 15"/>
          <p:cNvSpPr/>
          <p:nvPr/>
        </p:nvSpPr>
        <p:spPr>
          <a:xfrm>
            <a:off x="502920" y="5029200"/>
            <a:ext cx="502920" cy="502920"/>
          </a:xfrm>
          <a:prstGeom prst="roundRect">
            <a:avLst>
              <a:gd name="adj" fmla="val 10909"/>
            </a:avLst>
          </a:prstGeom>
          <a:solidFill>
            <a:srgbClr val="FF9900"/>
          </a:solidFill>
          <a:ln/>
        </p:spPr>
        <p:txBody>
          <a:bodyPr/>
          <a:lstStyle/>
          <a:p>
            <a:endParaRPr lang="en-NG"/>
          </a:p>
        </p:txBody>
      </p:sp>
      <p:sp>
        <p:nvSpPr>
          <p:cNvPr id="18" name="Text 16"/>
          <p:cNvSpPr/>
          <p:nvPr/>
        </p:nvSpPr>
        <p:spPr>
          <a:xfrm>
            <a:off x="502920" y="50292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188720" y="5001768"/>
            <a:ext cx="10497312" cy="320040"/>
          </a:xfrm>
          <a:prstGeom prst="rect">
            <a:avLst/>
          </a:prstGeom>
          <a:noFill/>
          <a:ln/>
        </p:spPr>
        <p:txBody>
          <a:bodyPr wrap="square"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Outcome</a:t>
            </a:r>
            <a:endParaRPr lang="en-US" sz="1400" dirty="0"/>
          </a:p>
        </p:txBody>
      </p:sp>
      <p:sp>
        <p:nvSpPr>
          <p:cNvPr id="20" name="Text 18"/>
          <p:cNvSpPr/>
          <p:nvPr/>
        </p:nvSpPr>
        <p:spPr>
          <a:xfrm>
            <a:off x="1188720" y="5321808"/>
            <a:ext cx="10497312" cy="594360"/>
          </a:xfrm>
          <a:prstGeom prst="rect">
            <a:avLst/>
          </a:prstGeom>
          <a:noFill/>
          <a:ln/>
        </p:spPr>
        <p:txBody>
          <a:bodyPr wrap="square" rtlCol="0" anchor="ctr"/>
          <a:lstStyle/>
          <a:p>
            <a:pPr marL="0" indent="0">
              <a:lnSpc>
                <a:spcPct val="115000"/>
              </a:lnSpc>
              <a:buNone/>
            </a:pPr>
            <a:r>
              <a:rPr lang="en-US" sz="1150" dirty="0">
                <a:solidFill>
                  <a:srgbClr val="5A6B7A"/>
                </a:solidFill>
                <a:latin typeface="Calibri" pitchFamily="34" charset="0"/>
                <a:ea typeface="Calibri" pitchFamily="34" charset="-122"/>
                <a:cs typeface="Calibri" pitchFamily="34" charset="-120"/>
              </a:rPr>
              <a:t>Every student leaves with a deployed, documented, monitored 3-tier capstone project, a tailored resume, and a mock interview completed — not just slide knowledge.</a:t>
            </a:r>
            <a:endParaRPr lang="en-US" sz="115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Program Overview</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32F3E"/>
          </a:solidFill>
          <a:ln/>
        </p:spPr>
        <p:txBody>
          <a:bodyPr/>
          <a:lstStyle/>
          <a:p>
            <a:endParaRPr lang="en-NG"/>
          </a:p>
        </p:txBody>
      </p:sp>
      <p:sp>
        <p:nvSpPr>
          <p:cNvPr id="3" name="Text 1"/>
          <p:cNvSpPr/>
          <p:nvPr/>
        </p:nvSpPr>
        <p:spPr>
          <a:xfrm>
            <a:off x="502920" y="2286000"/>
            <a:ext cx="7315200" cy="640080"/>
          </a:xfrm>
          <a:prstGeom prst="rect">
            <a:avLst/>
          </a:prstGeom>
          <a:noFill/>
          <a:ln/>
        </p:spPr>
        <p:txBody>
          <a:bodyPr wrap="square" rtlCol="0" anchor="ctr"/>
          <a:lstStyle/>
          <a:p>
            <a:pPr marL="0" indent="0">
              <a:buNone/>
            </a:pPr>
            <a:r>
              <a:rPr lang="en-US" sz="2000" b="1" kern="0" spc="300" dirty="0">
                <a:solidFill>
                  <a:srgbClr val="FFD9A3"/>
                </a:solidFill>
                <a:latin typeface="Calibri" pitchFamily="34" charset="0"/>
                <a:ea typeface="Calibri" pitchFamily="34" charset="-122"/>
                <a:cs typeface="Calibri" pitchFamily="34" charset="-120"/>
              </a:rPr>
              <a:t>WEEK 1</a:t>
            </a:r>
            <a:endParaRPr lang="en-US" sz="2000" dirty="0"/>
          </a:p>
        </p:txBody>
      </p:sp>
      <p:sp>
        <p:nvSpPr>
          <p:cNvPr id="4" name="Text 2"/>
          <p:cNvSpPr/>
          <p:nvPr/>
        </p:nvSpPr>
        <p:spPr>
          <a:xfrm>
            <a:off x="502920" y="2834640"/>
            <a:ext cx="96012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Cloud &amp; AWS Foundations</a:t>
            </a:r>
            <a:endParaRPr lang="en-US" sz="4000" dirty="0"/>
          </a:p>
        </p:txBody>
      </p:sp>
      <p:sp>
        <p:nvSpPr>
          <p:cNvPr id="5" name="Text 3"/>
          <p:cNvSpPr/>
          <p:nvPr/>
        </p:nvSpPr>
        <p:spPr>
          <a:xfrm>
            <a:off x="502920" y="3794760"/>
            <a:ext cx="9144000" cy="548640"/>
          </a:xfrm>
          <a:prstGeom prst="rect">
            <a:avLst/>
          </a:prstGeom>
          <a:noFill/>
          <a:ln/>
        </p:spPr>
        <p:txBody>
          <a:bodyPr wrap="square" rtlCol="0" anchor="ctr"/>
          <a:lstStyle/>
          <a:p>
            <a:pPr marL="0" indent="0">
              <a:buNone/>
            </a:pPr>
            <a:r>
              <a:rPr lang="en-US" sz="1700" i="1" dirty="0">
                <a:solidFill>
                  <a:srgbClr val="D9E2EC"/>
                </a:solidFill>
                <a:latin typeface="Calibri" pitchFamily="34" charset="0"/>
                <a:ea typeface="Calibri" pitchFamily="34" charset="-122"/>
                <a:cs typeface="Calibri" pitchFamily="34" charset="-120"/>
              </a:rPr>
              <a:t>From zero to a working, secured AWS account</a:t>
            </a:r>
            <a:endParaRPr lang="en-US" sz="1700" dirty="0"/>
          </a:p>
        </p:txBody>
      </p:sp>
      <p:sp>
        <p:nvSpPr>
          <p:cNvPr id="6" name="Shape 4"/>
          <p:cNvSpPr/>
          <p:nvPr/>
        </p:nvSpPr>
        <p:spPr>
          <a:xfrm>
            <a:off x="50292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7" name="Text 5"/>
          <p:cNvSpPr/>
          <p:nvPr/>
        </p:nvSpPr>
        <p:spPr>
          <a:xfrm>
            <a:off x="68580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a:t>
            </a:r>
            <a:endParaRPr lang="en-US" sz="1000" dirty="0"/>
          </a:p>
        </p:txBody>
      </p:sp>
      <p:sp>
        <p:nvSpPr>
          <p:cNvPr id="8" name="Text 6"/>
          <p:cNvSpPr/>
          <p:nvPr/>
        </p:nvSpPr>
        <p:spPr>
          <a:xfrm>
            <a:off x="68580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What is Cloud Computing?</a:t>
            </a:r>
            <a:endParaRPr lang="en-US" sz="1250" dirty="0"/>
          </a:p>
        </p:txBody>
      </p:sp>
      <p:sp>
        <p:nvSpPr>
          <p:cNvPr id="9" name="Shape 7"/>
          <p:cNvSpPr/>
          <p:nvPr/>
        </p:nvSpPr>
        <p:spPr>
          <a:xfrm>
            <a:off x="420624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0" name="Text 8"/>
          <p:cNvSpPr/>
          <p:nvPr/>
        </p:nvSpPr>
        <p:spPr>
          <a:xfrm>
            <a:off x="438912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2</a:t>
            </a:r>
            <a:endParaRPr lang="en-US" sz="1000" dirty="0"/>
          </a:p>
        </p:txBody>
      </p:sp>
      <p:sp>
        <p:nvSpPr>
          <p:cNvPr id="11" name="Text 9"/>
          <p:cNvSpPr/>
          <p:nvPr/>
        </p:nvSpPr>
        <p:spPr>
          <a:xfrm>
            <a:off x="438912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AWS Account Setup, Billing Safety &amp; Root User Security</a:t>
            </a:r>
            <a:endParaRPr lang="en-US" sz="1250" dirty="0"/>
          </a:p>
        </p:txBody>
      </p:sp>
      <p:sp>
        <p:nvSpPr>
          <p:cNvPr id="12" name="Shape 10"/>
          <p:cNvSpPr/>
          <p:nvPr/>
        </p:nvSpPr>
        <p:spPr>
          <a:xfrm>
            <a:off x="790956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3" name="Text 11"/>
          <p:cNvSpPr/>
          <p:nvPr/>
        </p:nvSpPr>
        <p:spPr>
          <a:xfrm>
            <a:off x="809244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3</a:t>
            </a:r>
            <a:endParaRPr lang="en-US" sz="1000" dirty="0"/>
          </a:p>
        </p:txBody>
      </p:sp>
      <p:sp>
        <p:nvSpPr>
          <p:cNvPr id="14" name="Text 12"/>
          <p:cNvSpPr/>
          <p:nvPr/>
        </p:nvSpPr>
        <p:spPr>
          <a:xfrm>
            <a:off x="809244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IAM Deep Dive — Users, Groups, Roles &amp; Policies</a:t>
            </a:r>
            <a:endParaRPr lang="en-US" sz="125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232F3E"/>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1  •  SESSION 1</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is Cloud Computing?</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232F3E"/>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232F3E"/>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Explain cloud computing vs traditional on-premises IT in plain language</a:t>
            </a:r>
            <a:endParaRPr lang="en-US" sz="1350" dirty="0"/>
          </a:p>
        </p:txBody>
      </p:sp>
      <p:sp>
        <p:nvSpPr>
          <p:cNvPr id="9" name="Shape 7"/>
          <p:cNvSpPr/>
          <p:nvPr/>
        </p:nvSpPr>
        <p:spPr>
          <a:xfrm>
            <a:off x="502920" y="3136392"/>
            <a:ext cx="292608" cy="292608"/>
          </a:xfrm>
          <a:prstGeom prst="roundRect">
            <a:avLst>
              <a:gd name="adj" fmla="val 50000"/>
            </a:avLst>
          </a:prstGeom>
          <a:solidFill>
            <a:srgbClr val="232F3E"/>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Differentiate IaaS, PaaS, and SaaS with real examples</a:t>
            </a:r>
            <a:endParaRPr lang="en-US" sz="1350" dirty="0"/>
          </a:p>
        </p:txBody>
      </p:sp>
      <p:sp>
        <p:nvSpPr>
          <p:cNvPr id="12" name="Shape 10"/>
          <p:cNvSpPr/>
          <p:nvPr/>
        </p:nvSpPr>
        <p:spPr>
          <a:xfrm>
            <a:off x="502920" y="3913632"/>
            <a:ext cx="292608" cy="292608"/>
          </a:xfrm>
          <a:prstGeom prst="roundRect">
            <a:avLst>
              <a:gd name="adj" fmla="val 50000"/>
            </a:avLst>
          </a:prstGeom>
          <a:solidFill>
            <a:srgbClr val="232F3E"/>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Identify why companies are hiring AWS-skilled engineers right now</a:t>
            </a:r>
            <a:endParaRPr lang="en-US" sz="1350" dirty="0"/>
          </a:p>
        </p:txBody>
      </p:sp>
      <p:sp>
        <p:nvSpPr>
          <p:cNvPr id="15" name="Shape 13"/>
          <p:cNvSpPr/>
          <p:nvPr/>
        </p:nvSpPr>
        <p:spPr>
          <a:xfrm>
            <a:off x="502920" y="4690872"/>
            <a:ext cx="292608" cy="292608"/>
          </a:xfrm>
          <a:prstGeom prst="roundRect">
            <a:avLst>
              <a:gd name="adj" fmla="val 50000"/>
            </a:avLst>
          </a:prstGeom>
          <a:solidFill>
            <a:srgbClr val="232F3E"/>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Describe AWS's global infrastructure (Regions, AZs, Edge Locations)</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 Support Engineer, first week on the job</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You've just joined a mid-size fintech startup as their first dedicated cloud hire. In your onboarding meeting, your manager says: "We're getting a lot of latency complaints from customers in Nigeria and South Africa, but our app runs out of us-east-1. Before we talk about fixing it, I need you to understand what a Region actually is and why it matters." Your first real task is to write a one-page internal note explaining Regions, AZs, and Edge Locations to the non-technical product team — in language they'll actually understand.</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Every single cloud job — support, SysOps, DevOps, security — starts from this map. You cannot reason about latency, compliance (data residency laws), disaster recovery, or cost without first understanding where AWS actually runs your workload physically. Interviewers use Region/AZ questions as an early filter: if you can't explain this cleanly, they assume everything downstream is memorized rather than understood.</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 What is Cloud Computing?</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Cloud, Why Now</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Traditional IT: buy servers, wait weeks, pay upfront, over-provision 'just in case'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Cloud IT: rent compute by the second, scale instantly, pay for what you use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CapEx vs OpEx — the business reason cloud won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 What is Cloud Computing?</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Service Models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IaaS: raw building blocks (EC2, VPC) — you manage the OS up</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PaaS: platform handles the OS (Elastic Beanstalk, RDS)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SaaS: fully managed app (Gmail, Salesforce) — you just use it</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 What is Cloud Computing?</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AWS Global Infrastructure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Regions: independent geographic areas (e.g., us-east-1, eu-west-1)</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Availability Zones: isolated data centers within a Region for fault tolerance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Edge Locations: CloudFront's content delivery points, closest to users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 What is Cloud Computing?</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The Job Market Reality</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AWS holds roughly a third of the global cloud infrastructure market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Cloud Engineer, Cloud Support, and Cloud Security roles consistently top hiring demand lists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bootcamp path: Support Engineer → Cloud/SysOps Engineer → Cloud Engineer / Solutions Architect</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 What is Cloud Computing?</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1: Explore AWS Regions &amp; Set Career Baseline</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60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Get comfortable navigating the AWS console and understand the infrastructure map before touching any resources.</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personal free AWS account if not already done (use a dedicated email, NOT a work email)</a:t>
            </a:r>
            <a:endParaRPr lang="en-US" sz="980" dirty="0"/>
          </a:p>
        </p:txBody>
      </p:sp>
      <p:sp>
        <p:nvSpPr>
          <p:cNvPr id="13" name="Shape 11"/>
          <p:cNvSpPr/>
          <p:nvPr/>
        </p:nvSpPr>
        <p:spPr>
          <a:xfrm>
            <a:off x="502920" y="31363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502920" y="31363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868680" y="31089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Log in to the AWS Management Console and locate the Region selector (top right)</a:t>
            </a:r>
            <a:endParaRPr lang="en-US" sz="980" dirty="0"/>
          </a:p>
        </p:txBody>
      </p:sp>
      <p:sp>
        <p:nvSpPr>
          <p:cNvPr id="16" name="Shape 14"/>
          <p:cNvSpPr/>
          <p:nvPr/>
        </p:nvSpPr>
        <p:spPr>
          <a:xfrm>
            <a:off x="502920" y="3593592"/>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5935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5661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Open the AWS Global Infrastructure map (aws.amazon.com/about-aws/global-infrastructure) and identify the Region closest to your location</a:t>
            </a:r>
            <a:endParaRPr lang="en-US" sz="980" dirty="0"/>
          </a:p>
        </p:txBody>
      </p:sp>
      <p:sp>
        <p:nvSpPr>
          <p:cNvPr id="19" name="Shape 17"/>
          <p:cNvSpPr/>
          <p:nvPr/>
        </p:nvSpPr>
        <p:spPr>
          <a:xfrm>
            <a:off x="502920" y="4050792"/>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502920" y="40507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868680" y="40233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Switch between 3 different Regions in the console and note how the console URL and available services change</a:t>
            </a:r>
            <a:endParaRPr lang="en-US" sz="980" dirty="0"/>
          </a:p>
        </p:txBody>
      </p:sp>
      <p:sp>
        <p:nvSpPr>
          <p:cNvPr id="22" name="Shape 20"/>
          <p:cNvSpPr/>
          <p:nvPr/>
        </p:nvSpPr>
        <p:spPr>
          <a:xfrm>
            <a:off x="502920" y="4507992"/>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45079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44805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Open AWS Billing Dashboard and locate 'Free Tier' usage alerts</a:t>
            </a:r>
            <a:endParaRPr lang="en-US" sz="980" dirty="0"/>
          </a:p>
        </p:txBody>
      </p:sp>
      <p:sp>
        <p:nvSpPr>
          <p:cNvPr id="25" name="Shape 23"/>
          <p:cNvSpPr/>
          <p:nvPr/>
        </p:nvSpPr>
        <p:spPr>
          <a:xfrm>
            <a:off x="502920" y="4965192"/>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502920" y="4965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868680" y="49377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Write a one-paragraph personal 'why AWS' statement — you will reuse this in your job application cover letter in Week 6</a:t>
            </a:r>
            <a:endParaRPr lang="en-US" sz="980" dirty="0"/>
          </a:p>
        </p:txBody>
      </p:sp>
      <p:sp>
        <p:nvSpPr>
          <p:cNvPr id="28" name="Text 2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 What is Cloud Computing?</a:t>
            </a:r>
            <a:endParaRPr lang="en-US" sz="900" dirty="0"/>
          </a:p>
        </p:txBody>
      </p:sp>
      <p:sp>
        <p:nvSpPr>
          <p:cNvPr id="29" name="Text 2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Confusing an Availability Zone with a Region — an AZ is one or more physical data centers inside a Region, not a separate geography.</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Assuming Free Tier limits are global — they are per-account, not per-Region, but resources you launch in one Region are invisible in another Region's console view, which trips up beginners constantly.</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Picking a Region far from your users 'because it's the default' — us-east-1 is the default in most tutorials, but it is not always the right choice for latency or compliance.</a:t>
            </a:r>
            <a:endParaRPr lang="en-US" sz="1200" dirty="0"/>
          </a:p>
        </p:txBody>
      </p:sp>
      <p:sp>
        <p:nvSpPr>
          <p:cNvPr id="17" name="Text 15"/>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 What is Cloud Computing?</a:t>
            </a:r>
            <a:endParaRPr lang="en-US" sz="90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232F3E"/>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Screenshot of your Billing Dashboard with Free Tier alerts visible, plus your written 'why AWS' paragraph.</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232F3E"/>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1: What is Cloud Computing?</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232F3E"/>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1  •  SESSION 2</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AWS Account Setup, Billing Safety &amp; Root User Security</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232F3E"/>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232F3E"/>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Set up a production-safe AWS account with billing guardrails</a:t>
            </a:r>
            <a:endParaRPr lang="en-US" sz="1350" dirty="0"/>
          </a:p>
        </p:txBody>
      </p:sp>
      <p:sp>
        <p:nvSpPr>
          <p:cNvPr id="9" name="Shape 7"/>
          <p:cNvSpPr/>
          <p:nvPr/>
        </p:nvSpPr>
        <p:spPr>
          <a:xfrm>
            <a:off x="502920" y="3136392"/>
            <a:ext cx="292608" cy="292608"/>
          </a:xfrm>
          <a:prstGeom prst="roundRect">
            <a:avLst>
              <a:gd name="adj" fmla="val 50000"/>
            </a:avLst>
          </a:prstGeom>
          <a:solidFill>
            <a:srgbClr val="232F3E"/>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Secure the root account and create an IAM administrator user</a:t>
            </a:r>
            <a:endParaRPr lang="en-US" sz="1350" dirty="0"/>
          </a:p>
        </p:txBody>
      </p:sp>
      <p:sp>
        <p:nvSpPr>
          <p:cNvPr id="12" name="Shape 10"/>
          <p:cNvSpPr/>
          <p:nvPr/>
        </p:nvSpPr>
        <p:spPr>
          <a:xfrm>
            <a:off x="502920" y="3913632"/>
            <a:ext cx="292608" cy="292608"/>
          </a:xfrm>
          <a:prstGeom prst="roundRect">
            <a:avLst>
              <a:gd name="adj" fmla="val 50000"/>
            </a:avLst>
          </a:prstGeom>
          <a:solidFill>
            <a:srgbClr val="232F3E"/>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Configure AWS Budgets and billing alarms to avoid surprise charges</a:t>
            </a:r>
            <a:endParaRPr lang="en-US" sz="1350" dirty="0"/>
          </a:p>
        </p:txBody>
      </p:sp>
      <p:sp>
        <p:nvSpPr>
          <p:cNvPr id="15" name="Shape 13"/>
          <p:cNvSpPr/>
          <p:nvPr/>
        </p:nvSpPr>
        <p:spPr>
          <a:xfrm>
            <a:off x="502920" y="4690872"/>
            <a:ext cx="292608" cy="292608"/>
          </a:xfrm>
          <a:prstGeom prst="roundRect">
            <a:avLst>
              <a:gd name="adj" fmla="val 50000"/>
            </a:avLst>
          </a:prstGeom>
          <a:solidFill>
            <a:srgbClr val="232F3E"/>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Install and configure the AWS CLI</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 Support Engineer, Day 3</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Your manager forwards you an AWS billing alert: a previous contractor's personal AWS account (used for an early prototype) just got compromised — their root credentials were leaked in a public GitHub commit, and a bot spun up cryptocurrency-mining EC2 instances overnight, racking up an unexpected bill. You are asked to (1) prevent this from ever happening to the team's real account, and (2) document the incident response steps for the team wiki. This is the exact scenario that makes 'enable MFA on root' the single most repeated piece of advice in cloud security.</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Root account compromise is one of the most common real-world AWS security incidents, and it is entirely preventable with steps that take under 10 minutes. In interviews, 'how do you secure a new AWS account' is a near-guaranteed question for any cloud/security/DevOps role, and 'enable MFA on root, never use root day-to-day, set billing alarms' is the expected baseline answer — not an advanced one.</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 AWS Account Setup, Billing Safety &amp; Root User Security</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2</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Root User Danger</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Root user has unrestricted access to everything, including closing the account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Rule #1 in every AWS job: never use root for daily work</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Enable MFA on root immediately — this is a top interview question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 AWS Account Setup, Billing Safety &amp; Root User Security</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2</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Billing Guardrails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AWS Budgets: set a $1–$10 threshold with email alerts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Cost Explorer: visualize spend by service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Free Tier limits: 750 hrs/month EC2 t2/t3.micro, 5GB S3, 750 hrs RDS db.t2/t3.micro</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 AWS Account Setup, Billing Safety &amp; Root User Security</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2</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IAM First Principles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IAM = Identity and Access Management — who can do what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Create your first IAM Admin user, never operate as root again</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Principle of Least Privilege introduced here, revisited every week</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 AWS Account Setup, Billing Safety &amp; Root User Security</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2</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AWS CLI &amp; Access Keys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Install AWS CLI v2 on your OS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Generate access keys for CLI use (NOT for root)</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Run 'aws configure' and verify with 'aws sts get-caller-identity'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 AWS Account Setup, Billing Safety &amp; Root User Security</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2: Lock Down the Account &amp; Install the CLI</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75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Leave this lab with a secured account that will not surprise-bill you, and a working CLI.</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Enable MFA on the root account using an authenticator app (Google Authenticator/Authy)</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 IAM user 'admin-yourname' with AdministratorAccess policy attached, enable console access and MFA</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Log out of root, log back in as the IAM admin user going forward</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 AWS Budget: $5/month with an email alert at 80% threshold</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Set up a CloudWatch Billing Alarm at $1 to test the alert pipeline actually works</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Install AWS CLI v2, run 'aws configure' with an access key created for the IAM admin user, confirm identity with 'aws sts get-caller-identity'</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'aws s3 ls' from your terminal to confirm CLI connectivity</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 AWS Account Setup, Billing Safety &amp; Root User Security</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Creating an IAM admin user but continuing to use root credentials out of habit because they're already saved in a password manager or browser autofill.</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Setting a billing alarm but forgetting it must be created in us-east-1 regardless of which Region you actually operate in — this trips up nearly every beginner.</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Storing access keys in plaintext in a script or committing them to Git — this is exactly how the contractor's account in the scenario above was compromised.</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Not enabling MFA on the new IAM admin user, only on root — leaving a second unprotected door open.</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 AWS Account Setup, Billing Safety &amp; Root User Security</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232F3E"/>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Terminal screenshot showing successful output of 'aws sts get-caller-identity', plus screenshot of the Budget configuration.</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232F3E"/>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2: AWS Account Setup, Billing Safety &amp; Root User Security</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232F3E"/>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1  •  SESSION 3</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IAM Deep Dive — Users, Groups, Roles &amp; Policies</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232F3E"/>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232F3E"/>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Create and organize IAM users into groups with policies</a:t>
            </a:r>
            <a:endParaRPr lang="en-US" sz="1350" dirty="0"/>
          </a:p>
        </p:txBody>
      </p:sp>
      <p:sp>
        <p:nvSpPr>
          <p:cNvPr id="9" name="Shape 7"/>
          <p:cNvSpPr/>
          <p:nvPr/>
        </p:nvSpPr>
        <p:spPr>
          <a:xfrm>
            <a:off x="502920" y="3136392"/>
            <a:ext cx="292608" cy="292608"/>
          </a:xfrm>
          <a:prstGeom prst="roundRect">
            <a:avLst>
              <a:gd name="adj" fmla="val 50000"/>
            </a:avLst>
          </a:prstGeom>
          <a:solidFill>
            <a:srgbClr val="232F3E"/>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Write and read basic IAM JSON policies</a:t>
            </a:r>
            <a:endParaRPr lang="en-US" sz="1350" dirty="0"/>
          </a:p>
        </p:txBody>
      </p:sp>
      <p:sp>
        <p:nvSpPr>
          <p:cNvPr id="12" name="Shape 10"/>
          <p:cNvSpPr/>
          <p:nvPr/>
        </p:nvSpPr>
        <p:spPr>
          <a:xfrm>
            <a:off x="502920" y="3913632"/>
            <a:ext cx="292608" cy="292608"/>
          </a:xfrm>
          <a:prstGeom prst="roundRect">
            <a:avLst>
              <a:gd name="adj" fmla="val 50000"/>
            </a:avLst>
          </a:prstGeom>
          <a:solidFill>
            <a:srgbClr val="232F3E"/>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Explain IAM Roles vs Users and when each is used</a:t>
            </a:r>
            <a:endParaRPr lang="en-US" sz="1350" dirty="0"/>
          </a:p>
        </p:txBody>
      </p:sp>
      <p:sp>
        <p:nvSpPr>
          <p:cNvPr id="15" name="Shape 13"/>
          <p:cNvSpPr/>
          <p:nvPr/>
        </p:nvSpPr>
        <p:spPr>
          <a:xfrm>
            <a:off x="502920" y="4690872"/>
            <a:ext cx="292608" cy="292608"/>
          </a:xfrm>
          <a:prstGeom prst="roundRect">
            <a:avLst>
              <a:gd name="adj" fmla="val 50000"/>
            </a:avLst>
          </a:prstGeom>
          <a:solidFill>
            <a:srgbClr val="232F3E"/>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Apply least-privilege thinking to a real scenario</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Cloud Security Analyst (entry-level), supporting a compliance audit</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Your company is preparing for a SOC 2 audit. The external auditor's first request is an 'access review': a list of every IAM user and role, what they can do, and proof that no one has more access than their job requires. Your team lead hands you three users flagged as 'unclear permissions' from last quarter and says: "Before I hand this to the auditor, rebuild these three access patterns cleanly so we can show least privilege in action." This is, almost word for word, a real audit evidence request — and the exact structure you build in this lab (Developers group, Admins group, a scoped inline policy, and a service role) is the template auditors expect to see.</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IAM is the single most-tested topic in AWS interviews across every specialization — support, SysOps, DevOps, and especially security. It's also where the most damaging real-world misconfigurations happen: the majority of publicized AWS security incidents trace back to overly broad IAM permissions, not a flaw in AWS itself. Being able to write a policy from scratch (not just click 'attach AdministratorAccess') is what separates someone who has used AWS from someone who can be trusted to run it.</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 IAM Deep Dive — Users, Groups, Roles &amp; Policies</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3</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IAM Building Blocks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Users: individual identities (people or apps)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Groups: collections of users sharing permissions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Roles: temporary identities assumed by services or federated users — no long-term credentials</a:t>
            </a:r>
            <a:endParaRPr lang="en-US" sz="1400" dirty="0"/>
          </a:p>
        </p:txBody>
      </p:sp>
      <p:sp>
        <p:nvSpPr>
          <p:cNvPr id="15" name="Shape 13"/>
          <p:cNvSpPr/>
          <p:nvPr/>
        </p:nvSpPr>
        <p:spPr>
          <a:xfrm>
            <a:off x="502920" y="484632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6" name="Shape 14"/>
          <p:cNvSpPr/>
          <p:nvPr/>
        </p:nvSpPr>
        <p:spPr>
          <a:xfrm>
            <a:off x="731520" y="5120640"/>
            <a:ext cx="274320" cy="274320"/>
          </a:xfrm>
          <a:prstGeom prst="roundRect">
            <a:avLst>
              <a:gd name="adj" fmla="val 50000"/>
            </a:avLst>
          </a:prstGeom>
          <a:solidFill>
            <a:srgbClr val="232F3E"/>
          </a:solidFill>
          <a:ln/>
        </p:spPr>
        <p:txBody>
          <a:bodyPr/>
          <a:lstStyle/>
          <a:p>
            <a:endParaRPr lang="en-NG"/>
          </a:p>
        </p:txBody>
      </p:sp>
      <p:sp>
        <p:nvSpPr>
          <p:cNvPr id="17" name="Text 15"/>
          <p:cNvSpPr/>
          <p:nvPr/>
        </p:nvSpPr>
        <p:spPr>
          <a:xfrm>
            <a:off x="1188720" y="484632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Policies: JSON documents defining permissions (Allow/Deny on Actions + Resources)</a:t>
            </a:r>
            <a:endParaRPr lang="en-US" sz="140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 IAM Deep Dive — Users, Groups, Roles &amp; Policies</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3</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Anatomy of a Policy</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Version, Statement, Effect, Action, Resource, Condition</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AWS Managed Policies vs Customer Managed vs Inline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Policy evaluation logic: explicit Deny always wins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 IAM Deep Dive — Users, Groups, Roles &amp; Policies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3</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Roles in the Real World</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EC2 needs to read from S3 → attach a Role, never hardcode keys on the instance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Cross-account access uses Roles with trust policies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is the #1 real-world IAM interview scenario</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 IAM Deep Dive — Users, Groups, Roles &amp; Policies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32F3E"/>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3</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Least Privilege in Practice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32F3E"/>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Start with zero permissions, add only what's needed</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32F3E"/>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Use IAM Access Analyzer to detect over-permissioned entities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32F3E"/>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Common junior mistake: attaching AdministratorAccess to everything (avoid this in labs from now 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 IAM Deep Dive — Users, Groups, Roles &amp; Policies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3: Build a Realistic IAM Structure</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Simulate a small company's IAM setup — this exact structure is a common take-home assessment in interviews.</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IAM group 'Developers' and attach AmazonS3ReadOnlyAccess</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IAM group 'Admins' and attach AdministratorAccess</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2 new IAM users: 'dev-user' (add to Developers) and 'ops-user' (add to Admins)</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Write a custom inline policy for dev-user that ALSO allows only starting/stopping EC2 instances (not terminating) — practice writing raw JSON</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 IAM Role named 'EC2-S3-ReadOnly-Role' with a trust policy for EC2, attach AmazonS3ReadOnlyAccess</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Test: log in as dev-user and confirm you CANNOT terminate an EC2 instance, but CAN stop one</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Document the policy JSON you wrote in a text file for your portfolio</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 IAM Deep Dive — Users, Groups, Roles &amp; Policies</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Attaching AdministratorAccess as a shortcut 'just to get the lab working' and never tightening it afterward — this is the single most common bad habit beginners carry into their first job.</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that an explicit Deny always overrides an Allow, even one from a different attached policy — a frequent point of confusion when a user has multiple policies attached.</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Writing a Role's trust policy incorrectly (allowing the wrong principal), which either blocks the intended service entirely or accidentally allows something broader than intended.</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Confusing a Role with a User — a Role has no permanent credentials and is assumed, temporarily, by a person or service; a User has long-term credentials.</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 IAM Deep Dive — Users, Groups, Roles &amp; Policies</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232F3E"/>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The custom JSON policy file, and a screenshot showing the Access Denied error when dev-user attempts a forbidden action.</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232F3E"/>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1 · Session 3: IAM Deep Dive — Users, Groups, Roles &amp; Policies</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9900"/>
          </a:solidFill>
          <a:ln/>
        </p:spPr>
        <p:txBody>
          <a:bodyPr/>
          <a:lstStyle/>
          <a:p>
            <a:endParaRPr lang="en-NG"/>
          </a:p>
        </p:txBody>
      </p:sp>
      <p:sp>
        <p:nvSpPr>
          <p:cNvPr id="3" name="Text 1"/>
          <p:cNvSpPr/>
          <p:nvPr/>
        </p:nvSpPr>
        <p:spPr>
          <a:xfrm>
            <a:off x="502920" y="2286000"/>
            <a:ext cx="7315200" cy="640080"/>
          </a:xfrm>
          <a:prstGeom prst="rect">
            <a:avLst/>
          </a:prstGeom>
          <a:noFill/>
          <a:ln/>
        </p:spPr>
        <p:txBody>
          <a:bodyPr wrap="square" rtlCol="0" anchor="ctr"/>
          <a:lstStyle/>
          <a:p>
            <a:pPr marL="0" indent="0">
              <a:buNone/>
            </a:pPr>
            <a:r>
              <a:rPr lang="en-US" sz="2000" b="1" kern="0" spc="300" dirty="0">
                <a:solidFill>
                  <a:srgbClr val="FFD9A3"/>
                </a:solidFill>
                <a:latin typeface="Calibri" pitchFamily="34" charset="0"/>
                <a:ea typeface="Calibri" pitchFamily="34" charset="-122"/>
                <a:cs typeface="Calibri" pitchFamily="34" charset="-120"/>
              </a:rPr>
              <a:t>WEEK 2</a:t>
            </a:r>
            <a:endParaRPr lang="en-US" sz="2000" dirty="0"/>
          </a:p>
        </p:txBody>
      </p:sp>
      <p:sp>
        <p:nvSpPr>
          <p:cNvPr id="4" name="Text 2"/>
          <p:cNvSpPr/>
          <p:nvPr/>
        </p:nvSpPr>
        <p:spPr>
          <a:xfrm>
            <a:off x="502920" y="2834640"/>
            <a:ext cx="96012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Compute &amp; Storage</a:t>
            </a:r>
            <a:endParaRPr lang="en-US" sz="4000" dirty="0"/>
          </a:p>
        </p:txBody>
      </p:sp>
      <p:sp>
        <p:nvSpPr>
          <p:cNvPr id="5" name="Text 3"/>
          <p:cNvSpPr/>
          <p:nvPr/>
        </p:nvSpPr>
        <p:spPr>
          <a:xfrm>
            <a:off x="502920" y="3794760"/>
            <a:ext cx="9144000" cy="548640"/>
          </a:xfrm>
          <a:prstGeom prst="rect">
            <a:avLst/>
          </a:prstGeom>
          <a:noFill/>
          <a:ln/>
        </p:spPr>
        <p:txBody>
          <a:bodyPr wrap="square" rtlCol="0" anchor="ctr"/>
          <a:lstStyle/>
          <a:p>
            <a:pPr marL="0" indent="0">
              <a:buNone/>
            </a:pPr>
            <a:r>
              <a:rPr lang="en-US" sz="1700" i="1" dirty="0">
                <a:solidFill>
                  <a:srgbClr val="D9E2EC"/>
                </a:solidFill>
                <a:latin typeface="Calibri" pitchFamily="34" charset="0"/>
                <a:ea typeface="Calibri" pitchFamily="34" charset="-122"/>
                <a:cs typeface="Calibri" pitchFamily="34" charset="-120"/>
              </a:rPr>
              <a:t>Launch, connect to, and store data for real workloads</a:t>
            </a:r>
            <a:endParaRPr lang="en-US" sz="1700" dirty="0"/>
          </a:p>
        </p:txBody>
      </p:sp>
      <p:sp>
        <p:nvSpPr>
          <p:cNvPr id="6" name="Shape 4"/>
          <p:cNvSpPr/>
          <p:nvPr/>
        </p:nvSpPr>
        <p:spPr>
          <a:xfrm>
            <a:off x="50292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7" name="Text 5"/>
          <p:cNvSpPr/>
          <p:nvPr/>
        </p:nvSpPr>
        <p:spPr>
          <a:xfrm>
            <a:off x="68580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4</a:t>
            </a:r>
            <a:endParaRPr lang="en-US" sz="1000" dirty="0"/>
          </a:p>
        </p:txBody>
      </p:sp>
      <p:sp>
        <p:nvSpPr>
          <p:cNvPr id="8" name="Text 6"/>
          <p:cNvSpPr/>
          <p:nvPr/>
        </p:nvSpPr>
        <p:spPr>
          <a:xfrm>
            <a:off x="68580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EC2 Fundamentals — Launching Your First Server</a:t>
            </a:r>
            <a:endParaRPr lang="en-US" sz="1250" dirty="0"/>
          </a:p>
        </p:txBody>
      </p:sp>
      <p:sp>
        <p:nvSpPr>
          <p:cNvPr id="9" name="Shape 7"/>
          <p:cNvSpPr/>
          <p:nvPr/>
        </p:nvSpPr>
        <p:spPr>
          <a:xfrm>
            <a:off x="420624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0" name="Text 8"/>
          <p:cNvSpPr/>
          <p:nvPr/>
        </p:nvSpPr>
        <p:spPr>
          <a:xfrm>
            <a:off x="438912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5</a:t>
            </a:r>
            <a:endParaRPr lang="en-US" sz="1000" dirty="0"/>
          </a:p>
        </p:txBody>
      </p:sp>
      <p:sp>
        <p:nvSpPr>
          <p:cNvPr id="11" name="Text 9"/>
          <p:cNvSpPr/>
          <p:nvPr/>
        </p:nvSpPr>
        <p:spPr>
          <a:xfrm>
            <a:off x="438912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EC2 Automation, Elastic IPs &amp; Auto Scaling Basics</a:t>
            </a:r>
            <a:endParaRPr lang="en-US" sz="1250" dirty="0"/>
          </a:p>
        </p:txBody>
      </p:sp>
      <p:sp>
        <p:nvSpPr>
          <p:cNvPr id="12" name="Shape 10"/>
          <p:cNvSpPr/>
          <p:nvPr/>
        </p:nvSpPr>
        <p:spPr>
          <a:xfrm>
            <a:off x="790956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3" name="Text 11"/>
          <p:cNvSpPr/>
          <p:nvPr/>
        </p:nvSpPr>
        <p:spPr>
          <a:xfrm>
            <a:off x="809244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6</a:t>
            </a:r>
            <a:endParaRPr lang="en-US" sz="1000" dirty="0"/>
          </a:p>
        </p:txBody>
      </p:sp>
      <p:sp>
        <p:nvSpPr>
          <p:cNvPr id="14" name="Text 12"/>
          <p:cNvSpPr/>
          <p:nvPr/>
        </p:nvSpPr>
        <p:spPr>
          <a:xfrm>
            <a:off x="809244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S3 Deep Dive — Storage Classes, Policies &amp; Static Hosting</a:t>
            </a:r>
            <a:endParaRPr lang="en-US" sz="125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FF9900"/>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2  •  SESSION 4</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EC2 Fundamentals — Launching Your First Server</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FF9900"/>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FF9900"/>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Launch an EC2 instance with the correct AMI, instance type, and key pair</a:t>
            </a:r>
            <a:endParaRPr lang="en-US" sz="1350" dirty="0"/>
          </a:p>
        </p:txBody>
      </p:sp>
      <p:sp>
        <p:nvSpPr>
          <p:cNvPr id="9" name="Shape 7"/>
          <p:cNvSpPr/>
          <p:nvPr/>
        </p:nvSpPr>
        <p:spPr>
          <a:xfrm>
            <a:off x="502920" y="3136392"/>
            <a:ext cx="292608" cy="292608"/>
          </a:xfrm>
          <a:prstGeom prst="roundRect">
            <a:avLst>
              <a:gd name="adj" fmla="val 50000"/>
            </a:avLst>
          </a:prstGeom>
          <a:solidFill>
            <a:srgbClr val="FF9900"/>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Connect to an instance via SSH</a:t>
            </a:r>
            <a:endParaRPr lang="en-US" sz="1350" dirty="0"/>
          </a:p>
        </p:txBody>
      </p:sp>
      <p:sp>
        <p:nvSpPr>
          <p:cNvPr id="12" name="Shape 10"/>
          <p:cNvSpPr/>
          <p:nvPr/>
        </p:nvSpPr>
        <p:spPr>
          <a:xfrm>
            <a:off x="502920" y="3913632"/>
            <a:ext cx="292608" cy="292608"/>
          </a:xfrm>
          <a:prstGeom prst="roundRect">
            <a:avLst>
              <a:gd name="adj" fmla="val 50000"/>
            </a:avLst>
          </a:prstGeom>
          <a:solidFill>
            <a:srgbClr val="FF9900"/>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Understand instance lifecycle states and pricing models</a:t>
            </a:r>
            <a:endParaRPr lang="en-US" sz="1350" dirty="0"/>
          </a:p>
        </p:txBody>
      </p:sp>
      <p:sp>
        <p:nvSpPr>
          <p:cNvPr id="15" name="Shape 13"/>
          <p:cNvSpPr/>
          <p:nvPr/>
        </p:nvSpPr>
        <p:spPr>
          <a:xfrm>
            <a:off x="502920" y="4690872"/>
            <a:ext cx="292608" cy="292608"/>
          </a:xfrm>
          <a:prstGeom prst="roundRect">
            <a:avLst>
              <a:gd name="adj" fmla="val 50000"/>
            </a:avLst>
          </a:prstGeom>
          <a:solidFill>
            <a:srgbClr val="FF9900"/>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Install and run a web server manually on EC2</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Cloud/SysOps Engineer, first infrastructure ticket</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A small e-commerce client needs a temporary marketing landing page live within the hour for a flash sale campaign starting that evening — their usual web team is unavailable. Your manager says: "We don't have time to set up a full pipeline. Spin up a quick EC2 web server, get the page live, and we'll migrate it to the real infrastructure next week." This 'quick and dirty but still secure' request is extremely common in real support/SysOps roles — the skill isn't just launching a server, it's launching one that won't become a security incident by tomorrow morning.</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EC2 is the most fundamental AWS compute service, and 'launch and secure a basic web server' is often the very first hands-on task given to new hires, and the first live technical exercise in many interview loops. Getting the Security Group scoping right (SSH from your IP only, not 0.0.0.0/0) is the difference between a quick fix and an exposed server that gets scanned and attacked within minutes of going live — the public internet's bots find open port 22 fast.</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 EC2 Fundamentals — Launching Your First Server</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4</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EC2 Core Concepts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AMI (Amazon Machine Image): the OS + software template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Instance Types: t3.micro (Free Tier) vs m5 vs c5 — general purpose, compute, memory optimized</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Key Pairs: SSH authentication, never share or lose the .pem file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 EC2 Fundamentals — Launching Your First Server</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4</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Instance Lifecycle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Pending → Running → Stopping → Stopped → Terminated</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Stopped ≠ Terminated: stopped keeps EBS storage and billing for storage continues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Termination is permanent by default unless termination protection is set</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 EC2 Fundamentals — Launching Your First Server</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4</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Pricing Models Overview</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On-Demand: pay per hour/second, no commitment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Reserved Instances: 1-3 year commitment, up to 72% cheaper</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Spot Instances: bid on spare capacity, up to 90% cheaper, can be reclaimed</a:t>
            </a:r>
            <a:endParaRPr lang="en-US" sz="1400" dirty="0"/>
          </a:p>
        </p:txBody>
      </p:sp>
      <p:sp>
        <p:nvSpPr>
          <p:cNvPr id="15" name="Shape 13"/>
          <p:cNvSpPr/>
          <p:nvPr/>
        </p:nvSpPr>
        <p:spPr>
          <a:xfrm>
            <a:off x="502920" y="484632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6" name="Shape 14"/>
          <p:cNvSpPr/>
          <p:nvPr/>
        </p:nvSpPr>
        <p:spPr>
          <a:xfrm>
            <a:off x="731520" y="5120640"/>
            <a:ext cx="274320" cy="274320"/>
          </a:xfrm>
          <a:prstGeom prst="roundRect">
            <a:avLst>
              <a:gd name="adj" fmla="val 50000"/>
            </a:avLst>
          </a:prstGeom>
          <a:solidFill>
            <a:srgbClr val="FF9900"/>
          </a:solidFill>
          <a:ln/>
        </p:spPr>
        <p:txBody>
          <a:bodyPr/>
          <a:lstStyle/>
          <a:p>
            <a:endParaRPr lang="en-NG"/>
          </a:p>
        </p:txBody>
      </p:sp>
      <p:sp>
        <p:nvSpPr>
          <p:cNvPr id="17" name="Text 15"/>
          <p:cNvSpPr/>
          <p:nvPr/>
        </p:nvSpPr>
        <p:spPr>
          <a:xfrm>
            <a:off x="1188720" y="484632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is a guaranteed interview question — know all three</a:t>
            </a:r>
            <a:endParaRPr lang="en-US" sz="140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 EC2 Fundamentals — Launching Your First Server</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4</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User Data &amp; Bootstrapping</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User Data scripts run once at first boot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Use this to auto-install software (e.g., Apache/Nginx) without manual SSH</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Sets up Week 6 automation mindset early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 EC2 Fundamentals — Launching Your First Server</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4: Launch and Configure Your First Web Server</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Stand up a real, internet-reachable web server end to end.</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Launch a t3.micro EC2 instance using Amazon Linux 2023 AMI</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new key pair, download and secure the .pem file (chmod 400 on Mac/Linux)</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Configure the security group to allow SSH (22) from your IP only, and HTTP (80) from anywhere</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Connect via SSH from your terminal</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Manually install and start Apache (httpd) or Nginx, create a custom index.html with your name</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Confirm the page loads via the instance's public IP in a browser</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Stop the instance, note the public IP changes on restart — discuss why (dynamic vs static IPs, foreshadowing Elastic IP)</a:t>
            </a:r>
            <a:endParaRPr lang="en-US" sz="980" dirty="0"/>
          </a:p>
        </p:txBody>
      </p:sp>
      <p:sp>
        <p:nvSpPr>
          <p:cNvPr id="31" name="Shape 29"/>
          <p:cNvSpPr/>
          <p:nvPr/>
        </p:nvSpPr>
        <p:spPr>
          <a:xfrm>
            <a:off x="6277356" y="4379976"/>
            <a:ext cx="256032" cy="256032"/>
          </a:xfrm>
          <a:prstGeom prst="roundRect">
            <a:avLst>
              <a:gd name="adj" fmla="val 17857"/>
            </a:avLst>
          </a:prstGeom>
          <a:solidFill>
            <a:srgbClr val="1D8348"/>
          </a:solidFill>
          <a:ln/>
        </p:spPr>
        <p:txBody>
          <a:bodyPr/>
          <a:lstStyle/>
          <a:p>
            <a:endParaRPr lang="en-NG"/>
          </a:p>
        </p:txBody>
      </p:sp>
      <p:sp>
        <p:nvSpPr>
          <p:cNvPr id="32" name="Text 30"/>
          <p:cNvSpPr/>
          <p:nvPr/>
        </p:nvSpPr>
        <p:spPr>
          <a:xfrm>
            <a:off x="6277356"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3" name="Text 31"/>
          <p:cNvSpPr/>
          <p:nvPr/>
        </p:nvSpPr>
        <p:spPr>
          <a:xfrm>
            <a:off x="6643116"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Terminate the instance to avoid ongoing charges</a:t>
            </a:r>
            <a:endParaRPr lang="en-US" sz="980" dirty="0"/>
          </a:p>
        </p:txBody>
      </p:sp>
      <p:sp>
        <p:nvSpPr>
          <p:cNvPr id="34" name="Text 32"/>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 EC2 Fundamentals — Launching Your First Server</a:t>
            </a:r>
            <a:endParaRPr lang="en-US" sz="900" dirty="0"/>
          </a:p>
        </p:txBody>
      </p:sp>
      <p:sp>
        <p:nvSpPr>
          <p:cNvPr id="35" name="Text 33"/>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Setting the SSH security group rule to 'Anywhere (0.0.0.0/0)' instead of 'My IP' — this is scanned and brute-forced by bots almost immediately in the real world.</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Losing or misplacing the .pem key file — AWS does not store a copy, and a lost key on a stopped instance with no other access method means the instance's data may be unrecoverable without extra steps.</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to run 'chmod 400' on the key file on Mac/Linux, causing an SSH 'permissions too open' rejection.</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Leaving the instance running after the lab/task is done, not realizing 'stopped' still bills for attached EBS storage, and a running instance bills continuously regardless of use.</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 EC2 Fundamentals — Launching Your First Server</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FF9900"/>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Screenshot of your custom webpage loading in a browser via the EC2 public IP.</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FF9900"/>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4: EC2 Fundamentals — Launching Your First Server</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FF9900"/>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2  •  SESSION 5</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EC2 Automation, Elastic IPs &amp; Auto Scaling Basics</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FF9900"/>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FF9900"/>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Use User Data scripts to auto-configure instances at launch</a:t>
            </a:r>
            <a:endParaRPr lang="en-US" sz="1350" dirty="0"/>
          </a:p>
        </p:txBody>
      </p:sp>
      <p:sp>
        <p:nvSpPr>
          <p:cNvPr id="9" name="Shape 7"/>
          <p:cNvSpPr/>
          <p:nvPr/>
        </p:nvSpPr>
        <p:spPr>
          <a:xfrm>
            <a:off x="502920" y="3136392"/>
            <a:ext cx="292608" cy="292608"/>
          </a:xfrm>
          <a:prstGeom prst="roundRect">
            <a:avLst>
              <a:gd name="adj" fmla="val 50000"/>
            </a:avLst>
          </a:prstGeom>
          <a:solidFill>
            <a:srgbClr val="FF9900"/>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Assign and manage Elastic IPs</a:t>
            </a:r>
            <a:endParaRPr lang="en-US" sz="1350" dirty="0"/>
          </a:p>
        </p:txBody>
      </p:sp>
      <p:sp>
        <p:nvSpPr>
          <p:cNvPr id="12" name="Shape 10"/>
          <p:cNvSpPr/>
          <p:nvPr/>
        </p:nvSpPr>
        <p:spPr>
          <a:xfrm>
            <a:off x="502920" y="3913632"/>
            <a:ext cx="292608" cy="292608"/>
          </a:xfrm>
          <a:prstGeom prst="roundRect">
            <a:avLst>
              <a:gd name="adj" fmla="val 50000"/>
            </a:avLst>
          </a:prstGeom>
          <a:solidFill>
            <a:srgbClr val="FF9900"/>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Create an AMI from a configured instance</a:t>
            </a:r>
            <a:endParaRPr lang="en-US" sz="1350" dirty="0"/>
          </a:p>
        </p:txBody>
      </p:sp>
      <p:sp>
        <p:nvSpPr>
          <p:cNvPr id="15" name="Shape 13"/>
          <p:cNvSpPr/>
          <p:nvPr/>
        </p:nvSpPr>
        <p:spPr>
          <a:xfrm>
            <a:off x="502920" y="4690872"/>
            <a:ext cx="292608" cy="292608"/>
          </a:xfrm>
          <a:prstGeom prst="roundRect">
            <a:avLst>
              <a:gd name="adj" fmla="val 50000"/>
            </a:avLst>
          </a:prstGeom>
          <a:solidFill>
            <a:srgbClr val="FF9900"/>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Understand Auto Scaling Groups and Launch Templates conceptually</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 Engineer, tasked with removing manual work</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After the flash-sale landing page from Session 4 works, leadership likes it enough to ask for three more similar pages for upcoming campaigns — and your manager notices you manually SSH'd in and typed commands by hand each time. "That's not going to scale," she says. "I want each new server to configure itself automatically the moment it boots, and I want the IP address to stay the same even if we reboot it — the DNS records for the campaign pages are already pointing at one IP." This is the exact moment a beginner starts thinking like an automation-minded engineer instead of someone who repeats manual steps.</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User Data scripts are the simplest form of Infrastructure as Code, and the instinct to automate repeatable manual work is what interviewers are listening for when they ask 'tell me about a time you improved a process.' Elastic IPs solve a genuinely common production problem (an IP changing on reboot breaks DNS, health checks, and firewall allowlists elsewhere), and custom AMIs are the foundation every Auto Scaling Group in Week 3 depends on — this lab is a direct prerequisite for Session 9's high-availability build.</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 EC2 Automation, Elastic IPs &amp; Auto Scaling Basics</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5</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User Data in Practice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Bash script passed at launch, runs as root once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Common pattern: update packages, install web server, deploy app, start service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Logs available at /var/log/cloud-init-output.log for troubleshooting</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 EC2 Automation, Elastic IPs &amp; Auto Scaling Basics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5</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Elastic IPs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Static public IPv4 address you can attach/detach from instances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Free while attached to a running instance, charged if idle/unattached</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Solves the 'IP changed on restart' problem from Lab 4</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 EC2 Automation, Elastic IPs &amp; Auto Scaling Basics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5</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Custom AMIs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Bake a configured instance into a reusable image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Speeds up repeatable deployments — foundation of Auto Scaling</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Versioning AMIs is a real production practice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 EC2 Automation, Elastic IPs &amp; Auto Scaling Basics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5</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Auto Scaling Groups (Conceptual)</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Launch Template: the recipe (AMI + instance type + security group)</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ASG: maintains desired instance count, scales on demand/schedule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Min/Max/Desired capacity — core interview vocabulary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 EC2 Automation, Elastic IPs &amp; Auto Scaling Basics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5: Automate Deployment with User Data + Elastic IP</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Remove manual SSH steps from Lab 4 by automating everything at launch, and solve the changing-IP problem.</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Launch a new t3.micro instance with a User Data script that installs and starts a web server AND writes a custom HTML page automatically</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Verify the site is live WITHOUT ever SSHing in</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Allocate an Elastic IP and associate it with the running instance</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Stop and start the instance, confirm the Elastic IP persists and the site is still reachable at the same address</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 AMI from this instance named 'web-server-baseline-v1'</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Launch a second instance from your custom AMI and confirm it comes up pre-configured</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Release the Elastic IP and terminate both instances when done (avoid idle-IP charges)</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 EC2 Automation, Elastic IPs &amp; Auto Scaling Basics</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Writing a User Data script without the '#!/bin/bash' shebang line — the script silently fails to execute as expected.</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Assuming User Data re-runs on every reboot — it only runs once, on first boot, unless you specifically configure cloud-init to re-run it.</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Allocating an Elastic IP and forgetting to release it after the lab — an unattached Elastic IP bills hourly, unlike one attached to a running instance, which is free.</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Creating an AMI from a 'dirty' instance that still has temporary test files, extra installed packages, or hardcoded IPs/secrets baked in — production teams build AMIs from carefully controlled, minimal base configurations.</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 EC2 Automation, Elastic IPs &amp; Auto Scaling Basics</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FF9900"/>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The User Data script text file, plus a screenshot confirming the second instance (launched from your custom AMI) is serving the page.</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FF9900"/>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5: EC2 Automation, Elastic IPs &amp; Auto Scaling Basics</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FF9900"/>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2  •  SESSION 6</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S3 Deep Dive — Storage Classes, Policies &amp; Static Hosting</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FF9900"/>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FF9900"/>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Create and configure S3 buckets with correct permissions</a:t>
            </a:r>
            <a:endParaRPr lang="en-US" sz="1350" dirty="0"/>
          </a:p>
        </p:txBody>
      </p:sp>
      <p:sp>
        <p:nvSpPr>
          <p:cNvPr id="9" name="Shape 7"/>
          <p:cNvSpPr/>
          <p:nvPr/>
        </p:nvSpPr>
        <p:spPr>
          <a:xfrm>
            <a:off x="502920" y="3136392"/>
            <a:ext cx="292608" cy="292608"/>
          </a:xfrm>
          <a:prstGeom prst="roundRect">
            <a:avLst>
              <a:gd name="adj" fmla="val 50000"/>
            </a:avLst>
          </a:prstGeom>
          <a:solidFill>
            <a:srgbClr val="FF9900"/>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Differentiate S3 storage classes and lifecycle policies</a:t>
            </a:r>
            <a:endParaRPr lang="en-US" sz="1350" dirty="0"/>
          </a:p>
        </p:txBody>
      </p:sp>
      <p:sp>
        <p:nvSpPr>
          <p:cNvPr id="12" name="Shape 10"/>
          <p:cNvSpPr/>
          <p:nvPr/>
        </p:nvSpPr>
        <p:spPr>
          <a:xfrm>
            <a:off x="502920" y="3913632"/>
            <a:ext cx="292608" cy="292608"/>
          </a:xfrm>
          <a:prstGeom prst="roundRect">
            <a:avLst>
              <a:gd name="adj" fmla="val 50000"/>
            </a:avLst>
          </a:prstGeom>
          <a:solidFill>
            <a:srgbClr val="FF9900"/>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Host a static website on S3</a:t>
            </a:r>
            <a:endParaRPr lang="en-US" sz="1350" dirty="0"/>
          </a:p>
        </p:txBody>
      </p:sp>
      <p:sp>
        <p:nvSpPr>
          <p:cNvPr id="15" name="Shape 13"/>
          <p:cNvSpPr/>
          <p:nvPr/>
        </p:nvSpPr>
        <p:spPr>
          <a:xfrm>
            <a:off x="502920" y="4690872"/>
            <a:ext cx="292608" cy="292608"/>
          </a:xfrm>
          <a:prstGeom prst="roundRect">
            <a:avLst>
              <a:gd name="adj" fmla="val 50000"/>
            </a:avLst>
          </a:prstGeom>
          <a:solidFill>
            <a:srgbClr val="FF9900"/>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Write and troubleshoot bucket policies</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 Engineer, supporting a marketing team's static site request</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The marketing team wants to retire their expensive third-party website builder and self-host a simple company landing page. They don't need a server, a database, or ongoing patching — just fast, cheap, reliable file hosting. Your manager says: "This doesn't need EC2 at all. Show me you understand when NOT to reach for a server." This exact reasoning — recognizing that S3 static hosting beats a full EC2 web server for simple content — is a common real-world cost-optimization and architecture decision.</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S3 is used by nearly every AWS workload in some form, and static website hosting is a textbook example of 'right-sizing' your architecture instead of defaulting to the biggest, most complex tool. Storage class lifecycle rules directly map to real cost-optimization conversations engineers have in performance reviews and interviews ('how did you reduce infrastructure spend'), and the Glacier retrieval-delay experience in this lab is something almost every engineer eventually has to explain to a confused stakeholder who expected instant access to an archived file.</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 S3 Deep Dive — Storage Classes, Policies &amp; Static Hosting</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6</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S3 Fundamentals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Object storage: buckets contain objects (files) with keys (paths)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Globally unique bucket names, Region-specific storage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11 nines of durability — what that actually means in practice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 S3 Deep Dive — Storage Classes, Policies &amp; Static Hosting</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6</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Storage Classes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S3 Standard: frequent access, highest cost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S3 Standard-IA / One Zone-IA: infrequent access, cheaper, retrieval fee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S3 Glacier / Glacier Deep Archive: archival, cents per GB, retrieval takes hours</a:t>
            </a:r>
            <a:endParaRPr lang="en-US" sz="1400" dirty="0"/>
          </a:p>
        </p:txBody>
      </p:sp>
      <p:sp>
        <p:nvSpPr>
          <p:cNvPr id="15" name="Shape 13"/>
          <p:cNvSpPr/>
          <p:nvPr/>
        </p:nvSpPr>
        <p:spPr>
          <a:xfrm>
            <a:off x="502920" y="484632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6" name="Shape 14"/>
          <p:cNvSpPr/>
          <p:nvPr/>
        </p:nvSpPr>
        <p:spPr>
          <a:xfrm>
            <a:off x="731520" y="5120640"/>
            <a:ext cx="274320" cy="274320"/>
          </a:xfrm>
          <a:prstGeom prst="roundRect">
            <a:avLst>
              <a:gd name="adj" fmla="val 50000"/>
            </a:avLst>
          </a:prstGeom>
          <a:solidFill>
            <a:srgbClr val="FF9900"/>
          </a:solidFill>
          <a:ln/>
        </p:spPr>
        <p:txBody>
          <a:bodyPr/>
          <a:lstStyle/>
          <a:p>
            <a:endParaRPr lang="en-NG"/>
          </a:p>
        </p:txBody>
      </p:sp>
      <p:sp>
        <p:nvSpPr>
          <p:cNvPr id="17" name="Text 15"/>
          <p:cNvSpPr/>
          <p:nvPr/>
        </p:nvSpPr>
        <p:spPr>
          <a:xfrm>
            <a:off x="1188720" y="484632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Lifecycle rules automate the transition between classes</a:t>
            </a:r>
            <a:endParaRPr lang="en-US" sz="140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 S3 Deep Dive — Storage Classes, Policies &amp; Static Hosting</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6</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Access Control Layers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Block Public Access settings (on by default — a common lab gotcha)</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Bucket Policies: resource-based JSON, similar syntax to IAM policies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ACLs: legacy, avoid in new designs, IAM/bucket policies preferred</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 S3 Deep Dive — Storage Classes, Policies &amp; Static Hosting</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6</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Static Website Hosting</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FF99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Enable static hosting on a bucket, set index/error documents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FF99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Must disable Block Public Access + add a public-read bucket policy</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FF99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Foundation for portfolio site hosting, and for CloudFront in Week 3</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 S3 Deep Dive — Storage Classes, Policies &amp; Static Hosting</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6: Host a Static Portfolio Site on S3</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Deploy a real, publicly accessible website you'll keep improving through the bootcamp — this becomes part of your job portfolio.</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 S3 bucket with a unique name (e.g., yourname-aws-portfolio)</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Build a simple index.html + error.html (can be plain HTML/CSS, no framework needed)</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Upload the files, enable Static Website Hosting in bucket properties</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Turn off Block Public Access and attach a bucket policy allowing public GetObject</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Confirm the site loads via the S3 website endpoint URL</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lifecycle rule that transitions objects older than 30 days to Standard-IA (configure only, no need to wait)</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Upload a second 'resume.pdf' file and set its storage class manually to Glacier, then attempt to download it and observe the retrieval behavior</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 S3 Deep Dive — Storage Classes, Policies &amp; Static Hosting</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that S3 bucket names must be globally unique across ALL AWS accounts worldwide, not just your own account — a common source of 'bucket name already exists' errors.</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Enabling static website hosting but forgetting to also disable Block Public Access AND add a bucket policy — both are required; either one alone leaves the site inaccessible.</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Setting an overly broad bucket policy (e.g., allowing s3:* instead of just s3:GetObject) when only public read access was intended.</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Panicking when a Glacier object 'won't download' — this is expected behavior, not a bug; retrieval must be initiated and takes time depending on the retrieval tier chosen.</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 S3 Deep Dive — Storage Classes, Policies &amp; Static Hosting</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FF9900"/>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The live S3 website URL, and a screenshot of your configured lifecycle rule.</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FF9900"/>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2 · Session 6: S3 Deep Dive — Storage Classes, Policies &amp; Static Hosting</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471A3"/>
          </a:solidFill>
          <a:ln/>
        </p:spPr>
        <p:txBody>
          <a:bodyPr/>
          <a:lstStyle/>
          <a:p>
            <a:endParaRPr lang="en-NG"/>
          </a:p>
        </p:txBody>
      </p:sp>
      <p:sp>
        <p:nvSpPr>
          <p:cNvPr id="3" name="Text 1"/>
          <p:cNvSpPr/>
          <p:nvPr/>
        </p:nvSpPr>
        <p:spPr>
          <a:xfrm>
            <a:off x="502920" y="2286000"/>
            <a:ext cx="7315200" cy="640080"/>
          </a:xfrm>
          <a:prstGeom prst="rect">
            <a:avLst/>
          </a:prstGeom>
          <a:noFill/>
          <a:ln/>
        </p:spPr>
        <p:txBody>
          <a:bodyPr wrap="square" rtlCol="0" anchor="ctr"/>
          <a:lstStyle/>
          <a:p>
            <a:pPr marL="0" indent="0">
              <a:buNone/>
            </a:pPr>
            <a:r>
              <a:rPr lang="en-US" sz="2000" b="1" kern="0" spc="300" dirty="0">
                <a:solidFill>
                  <a:srgbClr val="FFD9A3"/>
                </a:solidFill>
                <a:latin typeface="Calibri" pitchFamily="34" charset="0"/>
                <a:ea typeface="Calibri" pitchFamily="34" charset="-122"/>
                <a:cs typeface="Calibri" pitchFamily="34" charset="-120"/>
              </a:rPr>
              <a:t>WEEK 3</a:t>
            </a:r>
            <a:endParaRPr lang="en-US" sz="2000" dirty="0"/>
          </a:p>
        </p:txBody>
      </p:sp>
      <p:sp>
        <p:nvSpPr>
          <p:cNvPr id="4" name="Text 2"/>
          <p:cNvSpPr/>
          <p:nvPr/>
        </p:nvSpPr>
        <p:spPr>
          <a:xfrm>
            <a:off x="502920" y="2834640"/>
            <a:ext cx="96012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Networking Essentials</a:t>
            </a:r>
            <a:endParaRPr lang="en-US" sz="4000" dirty="0"/>
          </a:p>
        </p:txBody>
      </p:sp>
      <p:sp>
        <p:nvSpPr>
          <p:cNvPr id="5" name="Text 3"/>
          <p:cNvSpPr/>
          <p:nvPr/>
        </p:nvSpPr>
        <p:spPr>
          <a:xfrm>
            <a:off x="502920" y="3794760"/>
            <a:ext cx="9144000" cy="548640"/>
          </a:xfrm>
          <a:prstGeom prst="rect">
            <a:avLst/>
          </a:prstGeom>
          <a:noFill/>
          <a:ln/>
        </p:spPr>
        <p:txBody>
          <a:bodyPr wrap="square" rtlCol="0" anchor="ctr"/>
          <a:lstStyle/>
          <a:p>
            <a:pPr marL="0" indent="0">
              <a:buNone/>
            </a:pPr>
            <a:r>
              <a:rPr lang="en-US" sz="1700" i="1" dirty="0">
                <a:solidFill>
                  <a:srgbClr val="D9E2EC"/>
                </a:solidFill>
                <a:latin typeface="Calibri" pitchFamily="34" charset="0"/>
                <a:ea typeface="Calibri" pitchFamily="34" charset="-122"/>
                <a:cs typeface="Calibri" pitchFamily="34" charset="-120"/>
              </a:rPr>
              <a:t>Design secure, production-grade network architecture</a:t>
            </a:r>
            <a:endParaRPr lang="en-US" sz="1700" dirty="0"/>
          </a:p>
        </p:txBody>
      </p:sp>
      <p:sp>
        <p:nvSpPr>
          <p:cNvPr id="6" name="Shape 4"/>
          <p:cNvSpPr/>
          <p:nvPr/>
        </p:nvSpPr>
        <p:spPr>
          <a:xfrm>
            <a:off x="50292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7" name="Text 5"/>
          <p:cNvSpPr/>
          <p:nvPr/>
        </p:nvSpPr>
        <p:spPr>
          <a:xfrm>
            <a:off x="68580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7</a:t>
            </a:r>
            <a:endParaRPr lang="en-US" sz="1000" dirty="0"/>
          </a:p>
        </p:txBody>
      </p:sp>
      <p:sp>
        <p:nvSpPr>
          <p:cNvPr id="8" name="Text 6"/>
          <p:cNvSpPr/>
          <p:nvPr/>
        </p:nvSpPr>
        <p:spPr>
          <a:xfrm>
            <a:off x="68580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VPC Fundamentals — Building Your Own Network</a:t>
            </a:r>
            <a:endParaRPr lang="en-US" sz="1250" dirty="0"/>
          </a:p>
        </p:txBody>
      </p:sp>
      <p:sp>
        <p:nvSpPr>
          <p:cNvPr id="9" name="Shape 7"/>
          <p:cNvSpPr/>
          <p:nvPr/>
        </p:nvSpPr>
        <p:spPr>
          <a:xfrm>
            <a:off x="420624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0" name="Text 8"/>
          <p:cNvSpPr/>
          <p:nvPr/>
        </p:nvSpPr>
        <p:spPr>
          <a:xfrm>
            <a:off x="438912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8</a:t>
            </a:r>
            <a:endParaRPr lang="en-US" sz="1000" dirty="0"/>
          </a:p>
        </p:txBody>
      </p:sp>
      <p:sp>
        <p:nvSpPr>
          <p:cNvPr id="11" name="Text 9"/>
          <p:cNvSpPr/>
          <p:nvPr/>
        </p:nvSpPr>
        <p:spPr>
          <a:xfrm>
            <a:off x="438912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Security Groups, NACLs &amp; Bastion Hosts</a:t>
            </a:r>
            <a:endParaRPr lang="en-US" sz="1250" dirty="0"/>
          </a:p>
        </p:txBody>
      </p:sp>
      <p:sp>
        <p:nvSpPr>
          <p:cNvPr id="12" name="Shape 10"/>
          <p:cNvSpPr/>
          <p:nvPr/>
        </p:nvSpPr>
        <p:spPr>
          <a:xfrm>
            <a:off x="790956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3" name="Text 11"/>
          <p:cNvSpPr/>
          <p:nvPr/>
        </p:nvSpPr>
        <p:spPr>
          <a:xfrm>
            <a:off x="809244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9</a:t>
            </a:r>
            <a:endParaRPr lang="en-US" sz="1000" dirty="0"/>
          </a:p>
        </p:txBody>
      </p:sp>
      <p:sp>
        <p:nvSpPr>
          <p:cNvPr id="14" name="Text 12"/>
          <p:cNvSpPr/>
          <p:nvPr/>
        </p:nvSpPr>
        <p:spPr>
          <a:xfrm>
            <a:off x="809244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Load Balancing &amp; High Availability</a:t>
            </a:r>
            <a:endParaRPr lang="en-US" sz="125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2471A3"/>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3  •  SESSION 7</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VPC Fundamentals — Building Your Own Network</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2471A3"/>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2471A3"/>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Design and build a custom VPC with public and private subnets</a:t>
            </a:r>
            <a:endParaRPr lang="en-US" sz="1350" dirty="0"/>
          </a:p>
        </p:txBody>
      </p:sp>
      <p:sp>
        <p:nvSpPr>
          <p:cNvPr id="9" name="Shape 7"/>
          <p:cNvSpPr/>
          <p:nvPr/>
        </p:nvSpPr>
        <p:spPr>
          <a:xfrm>
            <a:off x="502920" y="3136392"/>
            <a:ext cx="292608" cy="292608"/>
          </a:xfrm>
          <a:prstGeom prst="roundRect">
            <a:avLst>
              <a:gd name="adj" fmla="val 50000"/>
            </a:avLst>
          </a:prstGeom>
          <a:solidFill>
            <a:srgbClr val="2471A3"/>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Explain CIDR blocks and subnet sizing</a:t>
            </a:r>
            <a:endParaRPr lang="en-US" sz="1350" dirty="0"/>
          </a:p>
        </p:txBody>
      </p:sp>
      <p:sp>
        <p:nvSpPr>
          <p:cNvPr id="12" name="Shape 10"/>
          <p:cNvSpPr/>
          <p:nvPr/>
        </p:nvSpPr>
        <p:spPr>
          <a:xfrm>
            <a:off x="502920" y="3913632"/>
            <a:ext cx="292608" cy="292608"/>
          </a:xfrm>
          <a:prstGeom prst="roundRect">
            <a:avLst>
              <a:gd name="adj" fmla="val 50000"/>
            </a:avLst>
          </a:prstGeom>
          <a:solidFill>
            <a:srgbClr val="2471A3"/>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Configure route tables and an Internet Gateway</a:t>
            </a:r>
            <a:endParaRPr lang="en-US" sz="1350" dirty="0"/>
          </a:p>
        </p:txBody>
      </p:sp>
      <p:sp>
        <p:nvSpPr>
          <p:cNvPr id="15" name="Shape 13"/>
          <p:cNvSpPr/>
          <p:nvPr/>
        </p:nvSpPr>
        <p:spPr>
          <a:xfrm>
            <a:off x="502920" y="4690872"/>
            <a:ext cx="292608" cy="292608"/>
          </a:xfrm>
          <a:prstGeom prst="roundRect">
            <a:avLst>
              <a:gd name="adj" fmla="val 50000"/>
            </a:avLst>
          </a:prstGeom>
          <a:solidFill>
            <a:srgbClr val="2471A3"/>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Understand the default VPC vs custom VPC tradeoffs</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Network/Cloud Engineer, greenfield environment build</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Your company is spinning up a brand-new AWS environment for a new product line, separate from its existing infrastructure. Compliance requires that the database tier never be directly reachable from the internet, while the web tier must be. Your manager hands you a whiteboard sketch with two boxes labeled 'public' and 'private' and says: "Build this. I don't want to find out in an audit that someone accidentally gave the database a public IP." This public/private subnet split is the single most common network architecture requirement in real AWS environments, across nearly every industry.</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Nearly every AWS job description mentions VPC experience, and the public/private subnet pattern is the backbone of virtually all production AWS architectures — it's also one of the most frequently diagrammed concepts in system-design interviews. CIDR math (understanding that /24 means 256 addresses, /16 means 65,536) comes up constantly in real troubleshooting, when you need to know whether two subnets' address ranges will overlap or whether a subnet is large enough for planned growth.</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 VPC Fundamentals — Building Your Own Network</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7</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VPC Core Concepts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VPC: your isolated virtual network within a Region</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CIDR notation: 10.0.0.0/16 = 65,536 IPs; /24 = 256 IPs — sizing is a real interview question</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Subnets live inside a single Availability Zone, never span AZs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 VPC Fundamentals — Building Your Own Network</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7</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Public vs Private Subnets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Public subnet: has a route to an Internet Gateway</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Private subnet: no direct route out, used for databases/internal services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split is the single most tested networking concept in interviews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 VPC Fundamentals — Building Your Own Network</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7</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Route Tables &amp; IGW</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Route table: rules governing where traffic goes (0.0.0.0/0 → igw-xxxx = internet-bound)</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Internet Gateway: horizontally scaled, redundant VPC component enabling internet access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Each subnet associates with exactly one route table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 VPC Fundamentals — Building Your Own Network</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7</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Default VPC vs Custom</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Default VPC: pre-built, all-public, fine for quick tests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Custom VPC: what real production environments use — full control over segmentation</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From this session forward, we build everything in custom VPCs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 VPC Fundamentals — Building Your Own Network</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7: Build a Custom VPC from Scratch</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Build the network foundation that every remaining lab in the bootcamp will run inside.</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custom VPC with CIDR 10.0.0.0/16, name it 'bootcamp-vpc'</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public subnet 10.0.1.0/24 and a private subnet 10.0.2.0/24, each in a different AZ</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and attach an Internet Gateway to the VPC</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route table for the public subnet with a 0.0.0.0/0 route to the IGW, associate it with the public subnet</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Confirm the private subnet uses the default (no internet) route table</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Launch a t3.micro instance in the public subnet, confirm it gets a public IP and can reach the internet</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Launch a second t3.micro instance in the private subnet, confirm it has NO public IP and cannot be reached directly</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 VPC Fundamentals — Building Your Own Network</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Creating overlapping CIDR blocks between subnets, which AWS will reject at creation time — plan your ranges on paper first (10.0.1.0/24, 10.0.2.0/24, etc. never overlap if the third octet differs and the mask is /24).</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to attach the Internet Gateway to the VPC after creating it — creating an IGW and attaching it are two separate steps that beginners often think happen together.</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Associating the WRONG route table with the public subnet, leaving it using the VPC's default (no-internet) route table, so the 'public' subnet has no actual internet access despite having a public IP.</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Launching an instance without 'Auto-assign public IP' enabled, then being confused why a supposedly 'public' subnet instance has no public IP — the subnet setting and the instance launch setting are separate.</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 VPC Fundamentals — Building Your Own Network</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2471A3"/>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A simple network diagram (hand-drawn or diagrams.net) of your VPC showing both subnets, the IGW, and route table associations.</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2471A3"/>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7: VPC Fundamentals — Building Your Own Network</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2471A3"/>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3  •  SESSION 8</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Security Groups, NACLs &amp; Bastion Hosts</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2471A3"/>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2471A3"/>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Configure Security Groups with least-privilege rules</a:t>
            </a:r>
            <a:endParaRPr lang="en-US" sz="1350" dirty="0"/>
          </a:p>
        </p:txBody>
      </p:sp>
      <p:sp>
        <p:nvSpPr>
          <p:cNvPr id="9" name="Shape 7"/>
          <p:cNvSpPr/>
          <p:nvPr/>
        </p:nvSpPr>
        <p:spPr>
          <a:xfrm>
            <a:off x="502920" y="3136392"/>
            <a:ext cx="292608" cy="292608"/>
          </a:xfrm>
          <a:prstGeom prst="roundRect">
            <a:avLst>
              <a:gd name="adj" fmla="val 50000"/>
            </a:avLst>
          </a:prstGeom>
          <a:solidFill>
            <a:srgbClr val="2471A3"/>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Differentiate Security Groups from Network ACLs</a:t>
            </a:r>
            <a:endParaRPr lang="en-US" sz="1350" dirty="0"/>
          </a:p>
        </p:txBody>
      </p:sp>
      <p:sp>
        <p:nvSpPr>
          <p:cNvPr id="12" name="Shape 10"/>
          <p:cNvSpPr/>
          <p:nvPr/>
        </p:nvSpPr>
        <p:spPr>
          <a:xfrm>
            <a:off x="502920" y="3913632"/>
            <a:ext cx="292608" cy="292608"/>
          </a:xfrm>
          <a:prstGeom prst="roundRect">
            <a:avLst>
              <a:gd name="adj" fmla="val 50000"/>
            </a:avLst>
          </a:prstGeom>
          <a:solidFill>
            <a:srgbClr val="2471A3"/>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Deploy a bastion host to reach private instances securely</a:t>
            </a:r>
            <a:endParaRPr lang="en-US" sz="1350" dirty="0"/>
          </a:p>
        </p:txBody>
      </p:sp>
      <p:sp>
        <p:nvSpPr>
          <p:cNvPr id="15" name="Shape 13"/>
          <p:cNvSpPr/>
          <p:nvPr/>
        </p:nvSpPr>
        <p:spPr>
          <a:xfrm>
            <a:off x="502920" y="4690872"/>
            <a:ext cx="292608" cy="292608"/>
          </a:xfrm>
          <a:prstGeom prst="roundRect">
            <a:avLst>
              <a:gd name="adj" fmla="val 50000"/>
            </a:avLst>
          </a:prstGeom>
          <a:solidFill>
            <a:srgbClr val="2471A3"/>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Troubleshoot common connectivity failures</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 Security Engineer, closing an audit finding</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A penetration test on your company's AWS environment comes back with a finding: "Database and internal application servers are directly reachable via SSH from the public internet." Your task is to remediate it without breaking the operations team's ability to manage those servers. Your manager adds a constraint: "I'd also like you to look at whether we even need SSH open at all — I've heard about a way to manage instances without opening any inbound ports." This exact remediation — bastion host or, better, Session Manager — is one of the most common real security findings and fixes in cloud environments.</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The bastion host pattern (and its modern replacement, AWS Systems Manager Session Manager) is a frequently tested interview topic because it demonstrates you understand defense-in-depth: even with correct subnet design, you still need to control WHO can reach WHAT and HOW. Being able to explain why Session Manager is often preferred in modern environments (no open inbound port, full session logging, no key management) signals more senior thinking than just 'I set up a bastion' — many real teams are actively migrating away from bastions for exactly this reason.</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 Security Groups, NACLs &amp; Bastion Hosts</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8</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Security Groups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Stateful: return traffic automatically allowed</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Operate at the instance/ENI level</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Default: deny all inbound, allow all outbound — you add Allow rules only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 Security Groups, NACLs &amp; Bastion Hosts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8</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Network ACLs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Stateless: inbound and outbound rules evaluated independently</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Operate at the subnet level, evaluated in rule-number order</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Rarely modified day-to-day but a classic interview comparison question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 Security Groups, NACLs &amp; Bastion Hosts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8</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The Bastion Host Pattern</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 hardened public instance used as the sole entry point to private subnets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SSH to bastion, then SSH from bastion to private instance ('SSH jump')</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Modern alternative: AWS Systems Manager Session Manager — no bastion, no open port 22 at all</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 Security Groups, NACLs &amp; Bastion Hosts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8</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Troubleshooting Connectivity</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The 5-point checklist: Route table → IGW → Security Group → NACL → OS firewall</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Use VPC Reachability Analyzer to diagnose in real deployments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checklist alone solves most junior networking tickets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 Security Groups, NACLs &amp; Bastion Hosts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8: Secure Access to a Private Instance</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Reach and manage the private-subnet instance from Lab 7 without ever exposing it to the internet.</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On the public-subnet instance, tighten its Security Group: SSH (22) only from your home IP</a:t>
            </a:r>
            <a:endParaRPr lang="en-US" sz="980" dirty="0"/>
          </a:p>
        </p:txBody>
      </p:sp>
      <p:sp>
        <p:nvSpPr>
          <p:cNvPr id="13" name="Shape 11"/>
          <p:cNvSpPr/>
          <p:nvPr/>
        </p:nvSpPr>
        <p:spPr>
          <a:xfrm>
            <a:off x="502920" y="31363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502920" y="31363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868680" y="31089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Security Group for the private instance allowing SSH only from the public instance's Security Group (not an IP)</a:t>
            </a:r>
            <a:endParaRPr lang="en-US" sz="980" dirty="0"/>
          </a:p>
        </p:txBody>
      </p:sp>
      <p:sp>
        <p:nvSpPr>
          <p:cNvPr id="16" name="Shape 14"/>
          <p:cNvSpPr/>
          <p:nvPr/>
        </p:nvSpPr>
        <p:spPr>
          <a:xfrm>
            <a:off x="502920" y="3593592"/>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5935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5661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SSH into the public (bastion) instance, then SSH again from there into the private instance using key forwarding or a copied key</a:t>
            </a:r>
            <a:endParaRPr lang="en-US" sz="980" dirty="0"/>
          </a:p>
        </p:txBody>
      </p:sp>
      <p:sp>
        <p:nvSpPr>
          <p:cNvPr id="19" name="Shape 17"/>
          <p:cNvSpPr/>
          <p:nvPr/>
        </p:nvSpPr>
        <p:spPr>
          <a:xfrm>
            <a:off x="502920" y="4050792"/>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502920" y="40507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868680" y="40233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Deliberately misconfigure the private instance's Security Group (remove the SSH rule), attempt to connect, and document the failure</a:t>
            </a:r>
            <a:endParaRPr lang="en-US" sz="980" dirty="0"/>
          </a:p>
        </p:txBody>
      </p:sp>
      <p:sp>
        <p:nvSpPr>
          <p:cNvPr id="22" name="Shape 20"/>
          <p:cNvSpPr/>
          <p:nvPr/>
        </p:nvSpPr>
        <p:spPr>
          <a:xfrm>
            <a:off x="502920" y="4507992"/>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45079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44805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Fix it, then repeat the test using AWS Systems Manager Session Manager instead of SSH (requires an IAM role with SSM permissions on the instance)</a:t>
            </a:r>
            <a:endParaRPr lang="en-US" sz="980" dirty="0"/>
          </a:p>
        </p:txBody>
      </p:sp>
      <p:sp>
        <p:nvSpPr>
          <p:cNvPr id="25" name="Shape 23"/>
          <p:cNvSpPr/>
          <p:nvPr/>
        </p:nvSpPr>
        <p:spPr>
          <a:xfrm>
            <a:off x="502920" y="4965192"/>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502920" y="4965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868680" y="49377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Compare and note: which approach needed an open inbound port, and which did not</a:t>
            </a:r>
            <a:endParaRPr lang="en-US" sz="980" dirty="0"/>
          </a:p>
        </p:txBody>
      </p:sp>
      <p:sp>
        <p:nvSpPr>
          <p:cNvPr id="28" name="Text 2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 Security Groups, NACLs &amp; Bastion Hosts</a:t>
            </a:r>
            <a:endParaRPr lang="en-US" sz="900" dirty="0"/>
          </a:p>
        </p:txBody>
      </p:sp>
      <p:sp>
        <p:nvSpPr>
          <p:cNvPr id="29" name="Text 2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Referencing an IP address instead of a Security Group ID when scoping the private instance's inbound rule — SG-to-SG references are more robust because they automatically follow the bastion if its IP ever changes.</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to enable SSH agent forwarding (-A flag), which forces copying the private key onto the bastion — a real security anti-pattern, since a compromised bastion would then expose your key.</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Assuming Session Manager works with zero extra setup — it requires the SSM Agent (pre-installed on Amazon Linux 2023), an IAM role with SSM permissions attached to the instance, and network access to the SSM service endpoints.</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Not testing the 'broken' state deliberately — skipping the intentional-failure step in this lab means you never learn what the actual error looks like, which is exactly what you'll see on a real ticket someday.</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 Security Groups, NACLs &amp; Bastion Hosts</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2471A3"/>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Written comparison (half a page) of the bastion/SSH approach vs Session Manager, including which you'd recommend for a production environment and why.</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2471A3"/>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8: Security Groups, NACLs &amp; Bastion Hosts</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2471A3"/>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3  •  SESSION 9</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Load Balancing &amp; High Availability</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2471A3"/>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2471A3"/>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Deploy an Application Load Balancer across multiple AZs</a:t>
            </a:r>
            <a:endParaRPr lang="en-US" sz="1350" dirty="0"/>
          </a:p>
        </p:txBody>
      </p:sp>
      <p:sp>
        <p:nvSpPr>
          <p:cNvPr id="9" name="Shape 7"/>
          <p:cNvSpPr/>
          <p:nvPr/>
        </p:nvSpPr>
        <p:spPr>
          <a:xfrm>
            <a:off x="502920" y="3136392"/>
            <a:ext cx="292608" cy="292608"/>
          </a:xfrm>
          <a:prstGeom prst="roundRect">
            <a:avLst>
              <a:gd name="adj" fmla="val 50000"/>
            </a:avLst>
          </a:prstGeom>
          <a:solidFill>
            <a:srgbClr val="2471A3"/>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Configure target groups and health checks</a:t>
            </a:r>
            <a:endParaRPr lang="en-US" sz="1350" dirty="0"/>
          </a:p>
        </p:txBody>
      </p:sp>
      <p:sp>
        <p:nvSpPr>
          <p:cNvPr id="12" name="Shape 10"/>
          <p:cNvSpPr/>
          <p:nvPr/>
        </p:nvSpPr>
        <p:spPr>
          <a:xfrm>
            <a:off x="502920" y="3913632"/>
            <a:ext cx="292608" cy="292608"/>
          </a:xfrm>
          <a:prstGeom prst="roundRect">
            <a:avLst>
              <a:gd name="adj" fmla="val 50000"/>
            </a:avLst>
          </a:prstGeom>
          <a:solidFill>
            <a:srgbClr val="2471A3"/>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Combine ALB with an Auto Scaling Group for real high availability</a:t>
            </a:r>
            <a:endParaRPr lang="en-US" sz="1350" dirty="0"/>
          </a:p>
        </p:txBody>
      </p:sp>
      <p:sp>
        <p:nvSpPr>
          <p:cNvPr id="15" name="Shape 13"/>
          <p:cNvSpPr/>
          <p:nvPr/>
        </p:nvSpPr>
        <p:spPr>
          <a:xfrm>
            <a:off x="502920" y="4690872"/>
            <a:ext cx="292608" cy="292608"/>
          </a:xfrm>
          <a:prstGeom prst="roundRect">
            <a:avLst>
              <a:gd name="adj" fmla="val 50000"/>
            </a:avLst>
          </a:prstGeom>
          <a:solidFill>
            <a:srgbClr val="2471A3"/>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Explain the difference between ALB, NLB, and Classic Load Balancer</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 Engineer, preventing a repeat outage</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Last month, the company's single web server went down during a routine AWS maintenance event in one Availability Zone, taking the entire product offline for 40 minutes during business hours — an outage that made it into a post-mortem review with the VP of Engineering. Your manager says: "This cannot happen again. I want traffic spread across at least two Availability Zones, and if a server dies, I want a replacement to come up automatically without anyone getting paged at 2am." This is one of the most common real incident-driven infrastructure changes in the industry — and the ALB + Auto Scaling Group pattern you build here is the textbook fix.</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This lab builds the single most common 'draw me the architecture' answer in cloud interviews: a load balancer distributing traffic across an Auto Scaling Group spanning multiple Availability Zones. It directly demonstrates the AWS Well-Architected Framework's Reliability pillar in action, and being able to say 'I built this exact pattern and watched it self-heal when I killed an instance' is a far stronger interview answer than reciting the concept from a slide.</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 Load Balancing &amp; High Availability</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9</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Load Balance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Single instance = single point of failure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Distributing traffic across AZs survives an entire data center outage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Foundation of the 'Well-Architected' Reliability pillar</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 Load Balancing &amp; High Availability</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9</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ALB vs NLB vs CLB</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ALB: Layer 7 (HTTP/HTTPS), content-based routing, most common for web apps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NLB: Layer 4 (TCP/UDP), ultra-high performance, static IP support</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CLB: legacy, avoid for new designs — know it exists for interviews only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 Load Balancing &amp; High Availability</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9</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Target Groups &amp; Health Checks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Target group: the pool of instances receiving traffic</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Health checks: automatic removal of unhealthy instances from rotation</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Health check path, interval, and threshold — the settings that matter</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 Load Balancing &amp; High Availability</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2471A3"/>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9</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ALB + ASG Together</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2471A3"/>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Auto Scaling Group registers/deregisters instances with the target group automatically</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2471A3"/>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Scaling policies: target tracking (e.g., CPU 60%), scheduled, step scaling</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2471A3"/>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combo is the standard 'how do you make this highly available' interview answer</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 Load Balancing &amp; High Availability</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9: Build a Highly Available Web Tier</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100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E07C00"/>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SMALL COST</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Deploy the classic HA pattern: Load Balancer + Auto Scaling Group across 2 AZs — this exact architecture appears in real job descriptions.</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Launch Template using your custom AMI from Lab 5 (or a fresh User Data script)</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second public subnet in a different AZ within bootcamp-vpc, with its own route to the IGW</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 Application Load Balancer spanning both public subnets</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Target Group with a health check on '/' and register it to the ALB listener on port 80</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 Auto Scaling Group using the Launch Template, min 2 / desired 2 / max 4, attached to the Target Group, across both AZs</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Confirm the ALB DNS name serves the page, and refresh multiple times to observe requests hitting different instances (vary the index.html per instance to prove it)</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Manually terminate one instance and observe the ASG automatically launch a replacement</a:t>
            </a:r>
            <a:endParaRPr lang="en-US" sz="980" dirty="0"/>
          </a:p>
        </p:txBody>
      </p:sp>
      <p:sp>
        <p:nvSpPr>
          <p:cNvPr id="31" name="Shape 29"/>
          <p:cNvSpPr/>
          <p:nvPr/>
        </p:nvSpPr>
        <p:spPr>
          <a:xfrm>
            <a:off x="6277356" y="4379976"/>
            <a:ext cx="256032" cy="256032"/>
          </a:xfrm>
          <a:prstGeom prst="roundRect">
            <a:avLst>
              <a:gd name="adj" fmla="val 17857"/>
            </a:avLst>
          </a:prstGeom>
          <a:solidFill>
            <a:srgbClr val="1D8348"/>
          </a:solidFill>
          <a:ln/>
        </p:spPr>
        <p:txBody>
          <a:bodyPr/>
          <a:lstStyle/>
          <a:p>
            <a:endParaRPr lang="en-NG"/>
          </a:p>
        </p:txBody>
      </p:sp>
      <p:sp>
        <p:nvSpPr>
          <p:cNvPr id="32" name="Text 30"/>
          <p:cNvSpPr/>
          <p:nvPr/>
        </p:nvSpPr>
        <p:spPr>
          <a:xfrm>
            <a:off x="6277356"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3" name="Text 31"/>
          <p:cNvSpPr/>
          <p:nvPr/>
        </p:nvSpPr>
        <p:spPr>
          <a:xfrm>
            <a:off x="6643116"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Clean up: delete the ASG, Load Balancer, and Target Group to stop charges</a:t>
            </a:r>
            <a:endParaRPr lang="en-US" sz="980" dirty="0"/>
          </a:p>
        </p:txBody>
      </p:sp>
      <p:sp>
        <p:nvSpPr>
          <p:cNvPr id="34" name="Text 32"/>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 Load Balancing &amp; High Availability</a:t>
            </a:r>
            <a:endParaRPr lang="en-US" sz="900" dirty="0"/>
          </a:p>
        </p:txBody>
      </p:sp>
      <p:sp>
        <p:nvSpPr>
          <p:cNvPr id="35" name="Text 33"/>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Selecting only one subnet/AZ for the ALB — an ALB requires subnets in at least two different AZs to be created at all, which is intentional: AWS won't let you build a load balancer that isn't actually highly available.</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the health check path — if it points to a URL that returns a non-200 status (or doesn't exist), the ASG will endlessly cycle instances in and out thinking they're all unhealthy.</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Setting Minimum and Desired capacity to the same low number (e.g., 1) which defeats the purpose of the exercise — high availability requires at least 2 running instances so one AZ's failure still leaves a working instance in another AZ.</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to delete the ALB specifically at cleanup — Load Balancers are NOT covered by the Free Tier and bill by the hour even when idle, unlike a stopped EC2 instance.</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 Load Balancing &amp; High Availability</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2471A3"/>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Screenshot of the ALB DNS name serving traffic, and a screen recording or before/after screenshot showing the ASG replacing a terminated instance.</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2471A3"/>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3 · Session 9: Load Balancing &amp; High Availability</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D8348"/>
          </a:solidFill>
          <a:ln/>
        </p:spPr>
        <p:txBody>
          <a:bodyPr/>
          <a:lstStyle/>
          <a:p>
            <a:endParaRPr lang="en-NG"/>
          </a:p>
        </p:txBody>
      </p:sp>
      <p:sp>
        <p:nvSpPr>
          <p:cNvPr id="3" name="Text 1"/>
          <p:cNvSpPr/>
          <p:nvPr/>
        </p:nvSpPr>
        <p:spPr>
          <a:xfrm>
            <a:off x="502920" y="2286000"/>
            <a:ext cx="7315200" cy="640080"/>
          </a:xfrm>
          <a:prstGeom prst="rect">
            <a:avLst/>
          </a:prstGeom>
          <a:noFill/>
          <a:ln/>
        </p:spPr>
        <p:txBody>
          <a:bodyPr wrap="square" rtlCol="0" anchor="ctr"/>
          <a:lstStyle/>
          <a:p>
            <a:pPr marL="0" indent="0">
              <a:buNone/>
            </a:pPr>
            <a:r>
              <a:rPr lang="en-US" sz="2000" b="1" kern="0" spc="300" dirty="0">
                <a:solidFill>
                  <a:srgbClr val="FFD9A3"/>
                </a:solidFill>
                <a:latin typeface="Calibri" pitchFamily="34" charset="0"/>
                <a:ea typeface="Calibri" pitchFamily="34" charset="-122"/>
                <a:cs typeface="Calibri" pitchFamily="34" charset="-120"/>
              </a:rPr>
              <a:t>WEEK 4</a:t>
            </a:r>
            <a:endParaRPr lang="en-US" sz="2000" dirty="0"/>
          </a:p>
        </p:txBody>
      </p:sp>
      <p:sp>
        <p:nvSpPr>
          <p:cNvPr id="4" name="Text 2"/>
          <p:cNvSpPr/>
          <p:nvPr/>
        </p:nvSpPr>
        <p:spPr>
          <a:xfrm>
            <a:off x="502920" y="2834640"/>
            <a:ext cx="96012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Databases &amp; Serverless</a:t>
            </a:r>
            <a:endParaRPr lang="en-US" sz="4000" dirty="0"/>
          </a:p>
        </p:txBody>
      </p:sp>
      <p:sp>
        <p:nvSpPr>
          <p:cNvPr id="5" name="Text 3"/>
          <p:cNvSpPr/>
          <p:nvPr/>
        </p:nvSpPr>
        <p:spPr>
          <a:xfrm>
            <a:off x="502920" y="3794760"/>
            <a:ext cx="9144000" cy="548640"/>
          </a:xfrm>
          <a:prstGeom prst="rect">
            <a:avLst/>
          </a:prstGeom>
          <a:noFill/>
          <a:ln/>
        </p:spPr>
        <p:txBody>
          <a:bodyPr wrap="square" rtlCol="0" anchor="ctr"/>
          <a:lstStyle/>
          <a:p>
            <a:pPr marL="0" indent="0">
              <a:buNone/>
            </a:pPr>
            <a:r>
              <a:rPr lang="en-US" sz="1700" i="1" dirty="0">
                <a:solidFill>
                  <a:srgbClr val="D9E2EC"/>
                </a:solidFill>
                <a:latin typeface="Calibri" pitchFamily="34" charset="0"/>
                <a:ea typeface="Calibri" pitchFamily="34" charset="-122"/>
                <a:cs typeface="Calibri" pitchFamily="34" charset="-120"/>
              </a:rPr>
              <a:t>Managed data stores and event-driven compute</a:t>
            </a:r>
            <a:endParaRPr lang="en-US" sz="1700" dirty="0"/>
          </a:p>
        </p:txBody>
      </p:sp>
      <p:sp>
        <p:nvSpPr>
          <p:cNvPr id="6" name="Shape 4"/>
          <p:cNvSpPr/>
          <p:nvPr/>
        </p:nvSpPr>
        <p:spPr>
          <a:xfrm>
            <a:off x="50292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7" name="Text 5"/>
          <p:cNvSpPr/>
          <p:nvPr/>
        </p:nvSpPr>
        <p:spPr>
          <a:xfrm>
            <a:off x="68580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10</a:t>
            </a:r>
            <a:endParaRPr lang="en-US" sz="1000" dirty="0"/>
          </a:p>
        </p:txBody>
      </p:sp>
      <p:sp>
        <p:nvSpPr>
          <p:cNvPr id="8" name="Text 6"/>
          <p:cNvSpPr/>
          <p:nvPr/>
        </p:nvSpPr>
        <p:spPr>
          <a:xfrm>
            <a:off x="68580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RDS — Managed Relational Databases</a:t>
            </a:r>
            <a:endParaRPr lang="en-US" sz="1250" dirty="0"/>
          </a:p>
        </p:txBody>
      </p:sp>
      <p:sp>
        <p:nvSpPr>
          <p:cNvPr id="9" name="Shape 7"/>
          <p:cNvSpPr/>
          <p:nvPr/>
        </p:nvSpPr>
        <p:spPr>
          <a:xfrm>
            <a:off x="420624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0" name="Text 8"/>
          <p:cNvSpPr/>
          <p:nvPr/>
        </p:nvSpPr>
        <p:spPr>
          <a:xfrm>
            <a:off x="438912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11</a:t>
            </a:r>
            <a:endParaRPr lang="en-US" sz="1000" dirty="0"/>
          </a:p>
        </p:txBody>
      </p:sp>
      <p:sp>
        <p:nvSpPr>
          <p:cNvPr id="11" name="Text 9"/>
          <p:cNvSpPr/>
          <p:nvPr/>
        </p:nvSpPr>
        <p:spPr>
          <a:xfrm>
            <a:off x="438912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DynamoDB &amp; NoSQL Fundamentals</a:t>
            </a:r>
            <a:endParaRPr lang="en-US" sz="1250" dirty="0"/>
          </a:p>
        </p:txBody>
      </p:sp>
      <p:sp>
        <p:nvSpPr>
          <p:cNvPr id="12" name="Shape 10"/>
          <p:cNvSpPr/>
          <p:nvPr/>
        </p:nvSpPr>
        <p:spPr>
          <a:xfrm>
            <a:off x="790956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3" name="Text 11"/>
          <p:cNvSpPr/>
          <p:nvPr/>
        </p:nvSpPr>
        <p:spPr>
          <a:xfrm>
            <a:off x="809244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12</a:t>
            </a:r>
            <a:endParaRPr lang="en-US" sz="1000" dirty="0"/>
          </a:p>
        </p:txBody>
      </p:sp>
      <p:sp>
        <p:nvSpPr>
          <p:cNvPr id="14" name="Text 12"/>
          <p:cNvSpPr/>
          <p:nvPr/>
        </p:nvSpPr>
        <p:spPr>
          <a:xfrm>
            <a:off x="809244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Lambda &amp; Serverless Architecture (API Gateway + Lambda + DynamoDB)</a:t>
            </a:r>
            <a:endParaRPr lang="en-US" sz="125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1D8348"/>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4  •  SESSION 10</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RDS — Managed Relational Databases</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1D8348"/>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1D8348"/>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Launch and connect to an RDS MySQL/PostgreSQL instance</a:t>
            </a:r>
            <a:endParaRPr lang="en-US" sz="1350" dirty="0"/>
          </a:p>
        </p:txBody>
      </p:sp>
      <p:sp>
        <p:nvSpPr>
          <p:cNvPr id="9" name="Shape 7"/>
          <p:cNvSpPr/>
          <p:nvPr/>
        </p:nvSpPr>
        <p:spPr>
          <a:xfrm>
            <a:off x="502920" y="3136392"/>
            <a:ext cx="292608" cy="292608"/>
          </a:xfrm>
          <a:prstGeom prst="roundRect">
            <a:avLst>
              <a:gd name="adj" fmla="val 50000"/>
            </a:avLst>
          </a:prstGeom>
          <a:solidFill>
            <a:srgbClr val="1D8348"/>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Configure Multi-AZ deployment for high availability</a:t>
            </a:r>
            <a:endParaRPr lang="en-US" sz="1350" dirty="0"/>
          </a:p>
        </p:txBody>
      </p:sp>
      <p:sp>
        <p:nvSpPr>
          <p:cNvPr id="12" name="Shape 10"/>
          <p:cNvSpPr/>
          <p:nvPr/>
        </p:nvSpPr>
        <p:spPr>
          <a:xfrm>
            <a:off x="502920" y="3913632"/>
            <a:ext cx="292608" cy="292608"/>
          </a:xfrm>
          <a:prstGeom prst="roundRect">
            <a:avLst>
              <a:gd name="adj" fmla="val 50000"/>
            </a:avLst>
          </a:prstGeom>
          <a:solidFill>
            <a:srgbClr val="1D8348"/>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Understand automated backups, snapshots, and restore</a:t>
            </a:r>
            <a:endParaRPr lang="en-US" sz="1350" dirty="0"/>
          </a:p>
        </p:txBody>
      </p:sp>
      <p:sp>
        <p:nvSpPr>
          <p:cNvPr id="15" name="Shape 13"/>
          <p:cNvSpPr/>
          <p:nvPr/>
        </p:nvSpPr>
        <p:spPr>
          <a:xfrm>
            <a:off x="502920" y="4690872"/>
            <a:ext cx="292608" cy="292608"/>
          </a:xfrm>
          <a:prstGeom prst="roundRect">
            <a:avLst>
              <a:gd name="adj" fmla="val 50000"/>
            </a:avLst>
          </a:prstGeom>
          <a:solidFill>
            <a:srgbClr val="1D8348"/>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Place RDS correctly inside a private subnet</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Database/Cloud Engineer, migrating off a risky setup</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 discover that a company database is currently running on a single self-managed MySQL install on an EC2 instance with no automated backups — the previous engineer who set it up left the company six months ago, and nobody has verified backups work since. Your manager says: "If that instance dies tonight, we lose the business. Migrate this to something managed, private, and backed up — and prove to me the backups actually restore, not just that they exist." This is a genuinely common 'inherited risk' scenario in real jobs, and the RDS pattern in this lab is the standard remediation.</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RDS removes an entire category of operational burden (patching, backup automation, failover) that many companies have historically gotten wrong by hand — this is precisely why 'managed database' experience is so heavily weighted in job postings. The distinction between Multi-AZ (synchronous, automatic failover, for availability) and Read Replicas (asynchronous, for read scaling, no automatic failover) is one of the most reliably asked database questions in cloud interviews, and actually restoring from a snapshot — not just taking one — is the step most people skip and then fail to explain when asked in an interview.</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 RDS — Managed Relational Databases</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10</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Managed Databases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AWS handles patching, backups, failover — you focus on schema and queries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RDS supports MySQL, PostgreSQL, MariaDB, SQL Server, Oracle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Contrast with self-managed DB on EC2: more control, more operational burden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 RDS — Managed Relational Databases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10</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Multi-AZ vs Read Replicas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Multi-AZ: synchronous standby in another AZ, automatic failover for HA</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Read Replicas: asynchronous copies for read scaling, not automatic failover</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Know the difference cold — extremely common interview question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 RDS — Managed Relational Databases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10</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Backups &amp; Recovery</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Automated backups: daily snapshot + transaction logs, point-in-time restore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Manual snapshots: persist beyond instance deletion, useful before risky changes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RTO/RPO vocabulary: Recovery Time/Point Objective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 RDS — Managed Relational Databases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10</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Network Placement</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RDS belongs in private subnets — never internet-facing in production</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DB Subnet Group: spans multiple private subnets across AZs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Security Group on RDS should only allow the app tier's Security Group, port 3306/5432</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 RDS — Managed Relational Databases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10: Deploy a Private, Highly Available Database</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Stand up RDS the way production teams actually do it — private, backed up, and reachable only from the app tier.</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second private subnet in bootcamp-vpc (different AZ) so you have 2 private subnets for a DB Subnet Group</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DB Subnet Group using both private subnets</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Launch a db.t3.micro MySQL RDS instance, Multi-AZ disabled for cost (discuss when you WOULD enable it), inside the DB Subnet Group</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Security Group for RDS allowing port 3306 only from your EC2 instance's Security Group</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Connect from your EC2 bastion/app instance using the MySQL client, create a test database and table</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Take a manual snapshot, then simulate disaster: delete a row, restore from snapshot into a new instance, and verify the data returned</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Delete both RDS instances at the end of the lab to avoid charges</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 RDS — Managed Relational Databases</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Leaving RDS 'Publicly accessible' set to Yes out of convenience during testing, then forgetting to change it back — a genuinely dangerous production misconfiguration that shows up in real security audits.</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Assuming a snapshot restore updates the original database in place — it does not; it always creates a brand-new DB instance, which you must then point your application at.</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that a DB Subnet Group needs subnets in at least 2 different AZs even for a single-AZ deployment — this trips up almost everyone the first time.</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Confusing Multi-AZ (high availability / automatic failover) with Read Replicas (read scaling / manual promotion) — these solve different problems and are not interchangeable.</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 RDS — Managed Relational Databases</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1D8348"/>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Terminal output showing a successful connection and query from EC2 to RDS, plus a screenshot of the manual snapshot listing.</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1D8348"/>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10: RDS — Managed Relational Databases</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1D8348"/>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4  •  SESSION 11</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DynamoDB &amp; NoSQL Fundamentals</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1D8348"/>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1D8348"/>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Create a DynamoDB table with correct partition/sort keys</a:t>
            </a:r>
            <a:endParaRPr lang="en-US" sz="1350" dirty="0"/>
          </a:p>
        </p:txBody>
      </p:sp>
      <p:sp>
        <p:nvSpPr>
          <p:cNvPr id="9" name="Shape 7"/>
          <p:cNvSpPr/>
          <p:nvPr/>
        </p:nvSpPr>
        <p:spPr>
          <a:xfrm>
            <a:off x="502920" y="3136392"/>
            <a:ext cx="292608" cy="292608"/>
          </a:xfrm>
          <a:prstGeom prst="roundRect">
            <a:avLst>
              <a:gd name="adj" fmla="val 50000"/>
            </a:avLst>
          </a:prstGeom>
          <a:solidFill>
            <a:srgbClr val="1D8348"/>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Perform CRUD operations via console and CLI</a:t>
            </a:r>
            <a:endParaRPr lang="en-US" sz="1350" dirty="0"/>
          </a:p>
        </p:txBody>
      </p:sp>
      <p:sp>
        <p:nvSpPr>
          <p:cNvPr id="12" name="Shape 10"/>
          <p:cNvSpPr/>
          <p:nvPr/>
        </p:nvSpPr>
        <p:spPr>
          <a:xfrm>
            <a:off x="502920" y="3913632"/>
            <a:ext cx="292608" cy="292608"/>
          </a:xfrm>
          <a:prstGeom prst="roundRect">
            <a:avLst>
              <a:gd name="adj" fmla="val 50000"/>
            </a:avLst>
          </a:prstGeom>
          <a:solidFill>
            <a:srgbClr val="1D8348"/>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Explain when to choose DynamoDB over RDS</a:t>
            </a:r>
            <a:endParaRPr lang="en-US" sz="1350" dirty="0"/>
          </a:p>
        </p:txBody>
      </p:sp>
      <p:sp>
        <p:nvSpPr>
          <p:cNvPr id="15" name="Shape 13"/>
          <p:cNvSpPr/>
          <p:nvPr/>
        </p:nvSpPr>
        <p:spPr>
          <a:xfrm>
            <a:off x="502920" y="4690872"/>
            <a:ext cx="292608" cy="292608"/>
          </a:xfrm>
          <a:prstGeom prst="roundRect">
            <a:avLst>
              <a:gd name="adj" fmla="val 50000"/>
            </a:avLst>
          </a:prstGeom>
          <a:solidFill>
            <a:srgbClr val="1D8348"/>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Understand on-demand vs provisioned capacity</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Backend/Cloud Engineer, building for unpredictable scale</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The marketing team is launching a viral social media campaign and expects a spike from a few hundred to potentially hundreds of thousands of visitors overnight if it takes off — nobody can predict which outcome will happen. Your manager says: "We can't provision a fixed-size relational database for a spike we can't forecast. I want something that scales itself and just works whether we get 200 visitors or 2 million." This unpredictable-traffic scenario is the textbook use case DynamoDB was built for, and it's a common real system-design conversation.</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NoSQL/DynamoDB knowledge is increasingly expected alongside relational database skills, especially for serverless and high-scale architectures, and 'when would you choose DynamoDB over RDS' is a standard system-design interview question. Understanding partition keys isn't academic — a poorly chosen partition key in a real DynamoDB table creates 'hot partitions' that throttle under load, which is a genuine, frequently-discussed production issue.</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 DynamoDB &amp; NoSQL Fundamentals</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11</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NoSQL vs Relational</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DynamoDB: key-value/document store, schema-flexible, massive scale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No JOINs, no complex transactions across tables (mostly) — design around access patterns, not normalization</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Single-digit millisecond latency at any scale — the headline selling point</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 DynamoDB &amp; NoSQL Fundamentals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11</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Keys &amp; Indexes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Partition Key: determines data distribution across storage partitions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Sort Key (optional): enables range queries within a partition</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Global Secondary Index (GSI): query on non-key attributes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 DynamoDB &amp; NoSQL Fundamentals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11</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Capacity Modes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On-Demand: pay per request, zero capacity planning, good for unpredictable traffic</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Provisioned: set Read/Write Capacity Units, cheaper at steady, predictable load</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Auto Scaling can adjust provisioned capacity automatically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 DynamoDB &amp; NoSQL Fundamentals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11</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When to Choose DynamoDB</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High-scale, simple access patterns: session stores, shopping carts, IoT data, leaderboards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When you need RDS instead: complex queries, joins, strict relational integrity</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decision tree is a frequent system-design interview topic</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 DynamoDB &amp; NoSQL Fundamentals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11: Build a Serverless Data Table</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75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Get hands-on with the NoSQL model that powers most serverless architectures — you'll wire this into Lambda next session.</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DynamoDB table 'Visitors' with partition key 'visitorId' (String)</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Set capacity mode to On-Demand</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Using the console, manually add 3 sample items with attributes like name, timestamp, and message</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Use the AWS CLI to run a put-item command to insert a 4th item</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Use the CLI to run get-item and query commands to retrieve specific records</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Add a Global Secondary Index on an attribute like 'timestamp' and query using it</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Delete an item via CLI, confirm it's gone via console</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 DynamoDB &amp; NoSQL Fundamentals</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Choosing a partition key with low cardinality (e.g., a fixed 'status' field with only 3 possible values) — this concentrates all data into a few partitions and can cause throttling under real load, even though it works fine in a small lab.</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Expecting SQL-style JOIN queries to work — DynamoDB is explicitly designed around single-table access patterns, not relational joins; this is a common source of frustration for people coming from a SQL background.</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that attribute names and types are case-sensitive and must match exactly between put-item and get-item/query calls, especially when typing CLI JSON by hand.</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Not understanding that a Global Secondary Index must be created BEFORE you can query on that attribute — existing items don't get retroactively indexed until the GSI is active.</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 DynamoDB &amp; NoSQL Fundamentals</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1D8348"/>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A text file containing the exact AWS CLI commands you used for put-item, get-item, and delete-item, with their outputs.</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1D8348"/>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11: DynamoDB &amp; NoSQL Fundamentals</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1D8348"/>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4  •  SESSION 12</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Lambda &amp; Serverless Architecture (API Gateway + Lambda + DynamoDB)</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1D8348"/>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1D8348"/>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Write and deploy a Lambda function</a:t>
            </a:r>
            <a:endParaRPr lang="en-US" sz="1350" dirty="0"/>
          </a:p>
        </p:txBody>
      </p:sp>
      <p:sp>
        <p:nvSpPr>
          <p:cNvPr id="9" name="Shape 7"/>
          <p:cNvSpPr/>
          <p:nvPr/>
        </p:nvSpPr>
        <p:spPr>
          <a:xfrm>
            <a:off x="502920" y="3136392"/>
            <a:ext cx="292608" cy="292608"/>
          </a:xfrm>
          <a:prstGeom prst="roundRect">
            <a:avLst>
              <a:gd name="adj" fmla="val 50000"/>
            </a:avLst>
          </a:prstGeom>
          <a:solidFill>
            <a:srgbClr val="1D8348"/>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Connect Lambda to DynamoDB with correct IAM permissions</a:t>
            </a:r>
            <a:endParaRPr lang="en-US" sz="1350" dirty="0"/>
          </a:p>
        </p:txBody>
      </p:sp>
      <p:sp>
        <p:nvSpPr>
          <p:cNvPr id="12" name="Shape 10"/>
          <p:cNvSpPr/>
          <p:nvPr/>
        </p:nvSpPr>
        <p:spPr>
          <a:xfrm>
            <a:off x="502920" y="3913632"/>
            <a:ext cx="292608" cy="292608"/>
          </a:xfrm>
          <a:prstGeom prst="roundRect">
            <a:avLst>
              <a:gd name="adj" fmla="val 50000"/>
            </a:avLst>
          </a:prstGeom>
          <a:solidFill>
            <a:srgbClr val="1D8348"/>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Expose Lambda through API Gateway as a REST endpoint</a:t>
            </a:r>
            <a:endParaRPr lang="en-US" sz="1350" dirty="0"/>
          </a:p>
        </p:txBody>
      </p:sp>
      <p:sp>
        <p:nvSpPr>
          <p:cNvPr id="15" name="Shape 13"/>
          <p:cNvSpPr/>
          <p:nvPr/>
        </p:nvSpPr>
        <p:spPr>
          <a:xfrm>
            <a:off x="502920" y="4690872"/>
            <a:ext cx="292608" cy="292608"/>
          </a:xfrm>
          <a:prstGeom prst="roundRect">
            <a:avLst>
              <a:gd name="adj" fmla="val 50000"/>
            </a:avLst>
          </a:prstGeom>
          <a:solidFill>
            <a:srgbClr val="1D8348"/>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Understand serverless cost and scaling advantages</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Backend/Cloud Engineer, shipping a real feature under a deadline</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Product wants a simple 'contact us' / lead-capture form live on the marketing site by Friday, and explicitly does not want to provision or manage a server for something this small. Your manager says: "This is maybe 20 lines of actual logic. Don't spin up an EC2 instance for it — I want to see this done the serverless way." This is one of the most common real 'right tool for the job' decisions junior engineers face, and API Gateway + Lambda + DynamoDB is the standard answer.</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This exact three-service stack — API Gateway, Lambda, DynamoDB — is quite possibly the single most common 'build something small and serverless' interview take-home assignment and portfolio project across the industry, because it's small enough to build in a day but touches IAM, event-driven compute, and a managed database all at once. Getting CORS wrong is such a common, universal frustration that understanding it deeply here will save you real debugging time for the rest of your career.</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 Lambda &amp; Serverless Architecture (API Gateway + Lambda + DynamoDB)</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12</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Serverless Concepts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No servers to patch or scale — AWS runs your code on demand</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Pay per invocation + execution time (ms-level billing)</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Cold starts: the tradeoff you must know for interviews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 Lambda &amp; Serverless Architecture (API Gateway + Lambda + DynamoDB)</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12</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Lambda Fundamentals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Handler function, event object, context object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Execution Role: the IAM role Lambda assumes to access other AWS services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Timeout, memory allocation, and how memory affects CPU allocation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 Lambda &amp; Serverless Architecture (API Gateway + Lambda + DynamoDB)</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12</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API Gateway</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REST API or HTTP API front door for Lambda</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Routes, methods, stages (dev/prod), and deployment</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CORS — the setting every beginner forgets and every browser-based demo breaks 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 Lambda &amp; Serverless Architecture (API Gateway + Lambda + DynamoDB)</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12</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The Full Serverless Stack</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D8348"/>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API Gateway → Lambda → DynamoDB is the single most common 'build a serverless app' interview/portfolio pattern</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D8348"/>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is genuinely production-representative architecture, not just a toy exercise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D8348"/>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Directly reusable in your capstone project in Week 6</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 Lambda &amp; Serverless Architecture (API Gateway + Lambda + DynamoDB)</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12: Build a Serverless REST API</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110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Ship a complete, working serverless backend — API Gateway, Lambda, and DynamoDB wired together end to end.</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Lambda function (Python or Node.js) named 'visitor-api'</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Attach an execution role granting it PutItem/GetItem/Scan on the Visitors DynamoDB table from Lab 11</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Write function code that inserts a new visitor record (name + timestamp) into DynamoDB and returns a JSON response</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Test the function directly in the Lambda console using a sample test event</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new REST API in API Gateway with a POST /visitors route wired to this Lambda</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Deploy the API to a 'prod' stage, enable CORS</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Test the live endpoint using curl or Postman, confirm new items appear in DynamoDB</a:t>
            </a:r>
            <a:endParaRPr lang="en-US" sz="980" dirty="0"/>
          </a:p>
        </p:txBody>
      </p:sp>
      <p:sp>
        <p:nvSpPr>
          <p:cNvPr id="31" name="Shape 29"/>
          <p:cNvSpPr/>
          <p:nvPr/>
        </p:nvSpPr>
        <p:spPr>
          <a:xfrm>
            <a:off x="6277356" y="4379976"/>
            <a:ext cx="256032" cy="256032"/>
          </a:xfrm>
          <a:prstGeom prst="roundRect">
            <a:avLst>
              <a:gd name="adj" fmla="val 17857"/>
            </a:avLst>
          </a:prstGeom>
          <a:solidFill>
            <a:srgbClr val="1D8348"/>
          </a:solidFill>
          <a:ln/>
        </p:spPr>
        <p:txBody>
          <a:bodyPr/>
          <a:lstStyle/>
          <a:p>
            <a:endParaRPr lang="en-NG"/>
          </a:p>
        </p:txBody>
      </p:sp>
      <p:sp>
        <p:nvSpPr>
          <p:cNvPr id="32" name="Text 30"/>
          <p:cNvSpPr/>
          <p:nvPr/>
        </p:nvSpPr>
        <p:spPr>
          <a:xfrm>
            <a:off x="6277356"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3" name="Text 31"/>
          <p:cNvSpPr/>
          <p:nvPr/>
        </p:nvSpPr>
        <p:spPr>
          <a:xfrm>
            <a:off x="6643116"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Write a second Lambda + GET route to list all visitors, deploy and test it</a:t>
            </a:r>
            <a:endParaRPr lang="en-US" sz="980" dirty="0"/>
          </a:p>
        </p:txBody>
      </p:sp>
      <p:sp>
        <p:nvSpPr>
          <p:cNvPr id="34" name="Text 32"/>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 Lambda &amp; Serverless Architecture (API Gateway + Lambda + DynamoDB)</a:t>
            </a:r>
            <a:endParaRPr lang="en-US" sz="900" dirty="0"/>
          </a:p>
        </p:txBody>
      </p:sp>
      <p:sp>
        <p:nvSpPr>
          <p:cNvPr id="35" name="Text 33"/>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Attaching a broad execution role (like AdministratorAccess) to the Lambda function instead of the narrowly-scoped DynamoDB permissions shown in this lab — a very common real-world over-permissioning mistake.</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to enable CORS on the API Gateway resource, which causes requests to work fine via curl/Postman but fail silently (or with a cryptic browser console error) when called from an actual web page.</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to redeploy the API Gateway stage after adding a new method or making a change — changes in the API Gateway console do not take effect on the live endpoint until you explicitly redeploy.</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Not handling the case where event['body'] is missing or malformed, causing the Lambda function to throw an unhandled exception on real-world messy input.</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 Lambda &amp; Serverless Architecture (API Gateway + Lambda + DynamoDB)</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1D8348"/>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The Lambda function code, the API Gateway invoke URL, and a curl/Postman screenshot showing a successful POST and GET against the live endpoint.</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1D8348"/>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4 · Session 12: Lambda &amp; Serverless Architecture (API Gateway + Lambda + DynamoDB)</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07C00"/>
          </a:solidFill>
          <a:ln/>
        </p:spPr>
        <p:txBody>
          <a:bodyPr/>
          <a:lstStyle/>
          <a:p>
            <a:endParaRPr lang="en-NG"/>
          </a:p>
        </p:txBody>
      </p:sp>
      <p:sp>
        <p:nvSpPr>
          <p:cNvPr id="3" name="Text 1"/>
          <p:cNvSpPr/>
          <p:nvPr/>
        </p:nvSpPr>
        <p:spPr>
          <a:xfrm>
            <a:off x="502920" y="2286000"/>
            <a:ext cx="7315200" cy="640080"/>
          </a:xfrm>
          <a:prstGeom prst="rect">
            <a:avLst/>
          </a:prstGeom>
          <a:noFill/>
          <a:ln/>
        </p:spPr>
        <p:txBody>
          <a:bodyPr wrap="square" rtlCol="0" anchor="ctr"/>
          <a:lstStyle/>
          <a:p>
            <a:pPr marL="0" indent="0">
              <a:buNone/>
            </a:pPr>
            <a:r>
              <a:rPr lang="en-US" sz="2000" b="1" kern="0" spc="300" dirty="0">
                <a:solidFill>
                  <a:srgbClr val="FFD9A3"/>
                </a:solidFill>
                <a:latin typeface="Calibri" pitchFamily="34" charset="0"/>
                <a:ea typeface="Calibri" pitchFamily="34" charset="-122"/>
                <a:cs typeface="Calibri" pitchFamily="34" charset="-120"/>
              </a:rPr>
              <a:t>WEEK 5</a:t>
            </a:r>
            <a:endParaRPr lang="en-US" sz="2000" dirty="0"/>
          </a:p>
        </p:txBody>
      </p:sp>
      <p:sp>
        <p:nvSpPr>
          <p:cNvPr id="4" name="Text 2"/>
          <p:cNvSpPr/>
          <p:nvPr/>
        </p:nvSpPr>
        <p:spPr>
          <a:xfrm>
            <a:off x="502920" y="2834640"/>
            <a:ext cx="96012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Monitoring &amp; Infrastructure as Code</a:t>
            </a:r>
            <a:endParaRPr lang="en-US" sz="4000" dirty="0"/>
          </a:p>
        </p:txBody>
      </p:sp>
      <p:sp>
        <p:nvSpPr>
          <p:cNvPr id="5" name="Text 3"/>
          <p:cNvSpPr/>
          <p:nvPr/>
        </p:nvSpPr>
        <p:spPr>
          <a:xfrm>
            <a:off x="502920" y="3794760"/>
            <a:ext cx="9144000" cy="548640"/>
          </a:xfrm>
          <a:prstGeom prst="rect">
            <a:avLst/>
          </a:prstGeom>
          <a:noFill/>
          <a:ln/>
        </p:spPr>
        <p:txBody>
          <a:bodyPr wrap="square" rtlCol="0" anchor="ctr"/>
          <a:lstStyle/>
          <a:p>
            <a:pPr marL="0" indent="0">
              <a:buNone/>
            </a:pPr>
            <a:r>
              <a:rPr lang="en-US" sz="1700" i="1" dirty="0">
                <a:solidFill>
                  <a:srgbClr val="D9E2EC"/>
                </a:solidFill>
                <a:latin typeface="Calibri" pitchFamily="34" charset="0"/>
                <a:ea typeface="Calibri" pitchFamily="34" charset="-122"/>
                <a:cs typeface="Calibri" pitchFamily="34" charset="-120"/>
              </a:rPr>
              <a:t>Observe your systems and provision infrastructure as Terraform code</a:t>
            </a:r>
            <a:endParaRPr lang="en-US" sz="1700" dirty="0"/>
          </a:p>
        </p:txBody>
      </p:sp>
      <p:sp>
        <p:nvSpPr>
          <p:cNvPr id="6" name="Shape 4"/>
          <p:cNvSpPr/>
          <p:nvPr/>
        </p:nvSpPr>
        <p:spPr>
          <a:xfrm>
            <a:off x="50292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7" name="Text 5"/>
          <p:cNvSpPr/>
          <p:nvPr/>
        </p:nvSpPr>
        <p:spPr>
          <a:xfrm>
            <a:off x="68580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13</a:t>
            </a:r>
            <a:endParaRPr lang="en-US" sz="1000" dirty="0"/>
          </a:p>
        </p:txBody>
      </p:sp>
      <p:sp>
        <p:nvSpPr>
          <p:cNvPr id="8" name="Text 6"/>
          <p:cNvSpPr/>
          <p:nvPr/>
        </p:nvSpPr>
        <p:spPr>
          <a:xfrm>
            <a:off x="68580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CloudWatch — Monitoring, Metrics, Logs &amp; Alarms</a:t>
            </a:r>
            <a:endParaRPr lang="en-US" sz="1250" dirty="0"/>
          </a:p>
        </p:txBody>
      </p:sp>
      <p:sp>
        <p:nvSpPr>
          <p:cNvPr id="9" name="Shape 7"/>
          <p:cNvSpPr/>
          <p:nvPr/>
        </p:nvSpPr>
        <p:spPr>
          <a:xfrm>
            <a:off x="420624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0" name="Text 8"/>
          <p:cNvSpPr/>
          <p:nvPr/>
        </p:nvSpPr>
        <p:spPr>
          <a:xfrm>
            <a:off x="438912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14</a:t>
            </a:r>
            <a:endParaRPr lang="en-US" sz="1000" dirty="0"/>
          </a:p>
        </p:txBody>
      </p:sp>
      <p:sp>
        <p:nvSpPr>
          <p:cNvPr id="11" name="Text 9"/>
          <p:cNvSpPr/>
          <p:nvPr/>
        </p:nvSpPr>
        <p:spPr>
          <a:xfrm>
            <a:off x="438912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Infrastructure as Code — Terraform Fundamentals</a:t>
            </a:r>
            <a:endParaRPr lang="en-US" sz="1250" dirty="0"/>
          </a:p>
        </p:txBody>
      </p:sp>
      <p:sp>
        <p:nvSpPr>
          <p:cNvPr id="12" name="Shape 10"/>
          <p:cNvSpPr/>
          <p:nvPr/>
        </p:nvSpPr>
        <p:spPr>
          <a:xfrm>
            <a:off x="790956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3" name="Text 11"/>
          <p:cNvSpPr/>
          <p:nvPr/>
        </p:nvSpPr>
        <p:spPr>
          <a:xfrm>
            <a:off x="809244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15</a:t>
            </a:r>
            <a:endParaRPr lang="en-US" sz="1000" dirty="0"/>
          </a:p>
        </p:txBody>
      </p:sp>
      <p:sp>
        <p:nvSpPr>
          <p:cNvPr id="14" name="Text 12"/>
          <p:cNvSpPr/>
          <p:nvPr/>
        </p:nvSpPr>
        <p:spPr>
          <a:xfrm>
            <a:off x="809244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Terraform for Multi-Tier Infrastructure</a:t>
            </a:r>
            <a:endParaRPr lang="en-US" sz="125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E07C00"/>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5  •  SESSION 13</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CloudWatch — Monitoring, Metrics, Logs &amp; Alarms</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E07C00"/>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E07C00"/>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Read and interpret CloudWatch metrics for EC2 and RDS</a:t>
            </a:r>
            <a:endParaRPr lang="en-US" sz="1350" dirty="0"/>
          </a:p>
        </p:txBody>
      </p:sp>
      <p:sp>
        <p:nvSpPr>
          <p:cNvPr id="9" name="Shape 7"/>
          <p:cNvSpPr/>
          <p:nvPr/>
        </p:nvSpPr>
        <p:spPr>
          <a:xfrm>
            <a:off x="502920" y="3136392"/>
            <a:ext cx="292608" cy="292608"/>
          </a:xfrm>
          <a:prstGeom prst="roundRect">
            <a:avLst>
              <a:gd name="adj" fmla="val 50000"/>
            </a:avLst>
          </a:prstGeom>
          <a:solidFill>
            <a:srgbClr val="E07C00"/>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Configure CloudWatch Alarms tied to SNS notifications</a:t>
            </a:r>
            <a:endParaRPr lang="en-US" sz="1350" dirty="0"/>
          </a:p>
        </p:txBody>
      </p:sp>
      <p:sp>
        <p:nvSpPr>
          <p:cNvPr id="12" name="Shape 10"/>
          <p:cNvSpPr/>
          <p:nvPr/>
        </p:nvSpPr>
        <p:spPr>
          <a:xfrm>
            <a:off x="502920" y="3913632"/>
            <a:ext cx="292608" cy="292608"/>
          </a:xfrm>
          <a:prstGeom prst="roundRect">
            <a:avLst>
              <a:gd name="adj" fmla="val 50000"/>
            </a:avLst>
          </a:prstGeom>
          <a:solidFill>
            <a:srgbClr val="E07C00"/>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Ship application logs to CloudWatch Logs</a:t>
            </a:r>
            <a:endParaRPr lang="en-US" sz="1350" dirty="0"/>
          </a:p>
        </p:txBody>
      </p:sp>
      <p:sp>
        <p:nvSpPr>
          <p:cNvPr id="15" name="Shape 13"/>
          <p:cNvSpPr/>
          <p:nvPr/>
        </p:nvSpPr>
        <p:spPr>
          <a:xfrm>
            <a:off x="502920" y="4690872"/>
            <a:ext cx="292608" cy="292608"/>
          </a:xfrm>
          <a:prstGeom prst="roundRect">
            <a:avLst>
              <a:gd name="adj" fmla="val 50000"/>
            </a:avLst>
          </a:prstGeom>
          <a:solidFill>
            <a:srgbClr val="E07C00"/>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Build a basic operational dashboard</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Cloud/SysOps Engineer, on call for the first time</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You've just been added to the on-call rotation, and your manager sits you down: "Right now, the only way we know something's wrong is when a customer complains. I want that to change before your first on-call shift next week. If CPU spikes or memory fills up, I want an email BEFORE a customer notices, not after." This proactive-monitoring gap is an extremely common state for early-stage teams, and closing it is often literally a new hire's first real deliverable.</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"If it's not monitored, it's not in production" is a genuine industry mantra, and CloudWatch fluency — metrics, alarms, dashboards, and log shipping — is assumed baseline knowledge for any operations-adjacent role. Being able to say in an interview "I built an alerting pipeline that paged me via SNS before a real incident occurred" is a concrete, credible story that goes far beyond reciting what CloudWatch is.</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 CloudWatch — Monitoring, Metrics, Logs &amp; Alarms</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13</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The Observability Trio</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Metrics: numeric time-series data (CPUUtilization, DatabaseConnections)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Logs: detailed event records (application logs, access logs)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Alarms: automated reactions to metric thresholds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 CloudWatch — Monitoring, Metrics, Logs &amp; Alarms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13</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CloudWatch Agent &amp; Logs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Default EC2 metrics are host-level only (CPU, network) — memory/disk needs the CloudWatch Agent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Log Groups and Log Streams structure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Metric Filters: turn log patterns into alarmable metrics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 CloudWatch — Monitoring, Metrics, Logs &amp; Alarms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13</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Alarms &amp; SNS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Alarm states: OK, ALARM, INSUFFICIENT_DATA</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SNS Topics: the notification fan-out mechanism (email, SMS, Lambda trigger)</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Composite alarms for reducing noise — a senior-level detail worth mentioning in interviews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 CloudWatch — Monitoring, Metrics, Logs &amp; Alarms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13</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Dashboards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Custom dashboards combining multiple widgets/metrics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is what you'll screenshot for your portfolio and demo in interviews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The operational mindset: 'if it's not monitored, it's not in production'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 CloudWatch — Monitoring, Metrics, Logs &amp; Alarms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13: Build a Monitoring &amp; Alerting Pipeline</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Add real observability to infrastructure you've already built — this is what separates a hobbyist from an engineer.</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Launch a t3.micro EC2 instance (or reuse one), install the CloudWatch Agent, configure it to send memory and disk metrics</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CloudWatch Alarm on CPUUtilization &gt; 70% for 5 minutes</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an SNS Topic 'ops-alerts', subscribe your email, confirm the subscription</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Wire the alarm to publish to the SNS topic on ALARM state</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Stress the CPU (e.g., 'yes &gt; /dev/null &amp;' briefly, or a stress-ng tool) to trigger the alarm and confirm you receive the email</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Ship the web server's access log to a CloudWatch Log Group using the agent</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Build a CloudWatch Dashboard with 3 widgets: CPU, memory, and a log widget showing recent access log lines</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 CloudWatch — Monitoring, Metrics, Logs &amp; Alarms</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that default EC2 metrics only include CPU, network, and disk I/O at the host level — memory and actual disk usage require the CloudWatch Agent to be installed and configured, which surprises many beginners.</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Setting an alarm threshold so low it triggers constantly (alarm fatigue) or so high it never triggers in a lab setting — calibrating a meaningful threshold is itself a real operational skill.</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to confirm the SNS email subscription (a confirmation link is sent to your inbox) — an unconfirmed subscription silently never delivers alerts, with no error shown anywhere in the CloudWatch console.</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Building a dashboard but never revisiting or pruning it — real production dashboards rot into noise if nobody maintains them, which is worth mentioning as a lesson learned in your notes.</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 CloudWatch — Monitoring, Metrics, Logs &amp; Alarms</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E07C00"/>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Screenshot of the received SNS alert email, plus a screenshot of your finished dashboard.</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E07C00"/>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13: CloudWatch — Monitoring, Metrics, Logs &amp; Alarms</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E07C00"/>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5  •  SESSION 14</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Infrastructure as Code — Terraform Fundamentals</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E07C00"/>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E07C00"/>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Explain what Terraform is and why Cloud Engineers use it to provision AWS resources</a:t>
            </a:r>
            <a:endParaRPr lang="en-US" sz="1350" dirty="0"/>
          </a:p>
        </p:txBody>
      </p:sp>
      <p:sp>
        <p:nvSpPr>
          <p:cNvPr id="9" name="Shape 7"/>
          <p:cNvSpPr/>
          <p:nvPr/>
        </p:nvSpPr>
        <p:spPr>
          <a:xfrm>
            <a:off x="502920" y="3136392"/>
            <a:ext cx="292608" cy="292608"/>
          </a:xfrm>
          <a:prstGeom prst="roundRect">
            <a:avLst>
              <a:gd name="adj" fmla="val 50000"/>
            </a:avLst>
          </a:prstGeom>
          <a:solidFill>
            <a:srgbClr val="E07C00"/>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Install Terraform and configure the AWS provider</a:t>
            </a:r>
            <a:endParaRPr lang="en-US" sz="1350" dirty="0"/>
          </a:p>
        </p:txBody>
      </p:sp>
      <p:sp>
        <p:nvSpPr>
          <p:cNvPr id="12" name="Shape 10"/>
          <p:cNvSpPr/>
          <p:nvPr/>
        </p:nvSpPr>
        <p:spPr>
          <a:xfrm>
            <a:off x="502920" y="3913632"/>
            <a:ext cx="292608" cy="292608"/>
          </a:xfrm>
          <a:prstGeom prst="roundRect">
            <a:avLst>
              <a:gd name="adj" fmla="val 50000"/>
            </a:avLst>
          </a:prstGeom>
          <a:solidFill>
            <a:srgbClr val="E07C00"/>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Write a Terraform configuration that creates EC2 + Security Group resources</a:t>
            </a:r>
            <a:endParaRPr lang="en-US" sz="1350" dirty="0"/>
          </a:p>
        </p:txBody>
      </p:sp>
      <p:sp>
        <p:nvSpPr>
          <p:cNvPr id="15" name="Shape 13"/>
          <p:cNvSpPr/>
          <p:nvPr/>
        </p:nvSpPr>
        <p:spPr>
          <a:xfrm>
            <a:off x="502920" y="4690872"/>
            <a:ext cx="292608" cy="292608"/>
          </a:xfrm>
          <a:prstGeom prst="roundRect">
            <a:avLst>
              <a:gd name="adj" fmla="val 50000"/>
            </a:avLst>
          </a:prstGeom>
          <a:solidFill>
            <a:srgbClr val="E07C00"/>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Understand the core workflow: init, plan, apply, destroy</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 Engineer, standardizing a messy environment</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Your team currently has three nearly-identical EC2 web servers, each configured slightly differently by hand over the past year — one is missing a security patch, one has a different security group rule, and nobody remembers exactly why. Your manager says: "I want this written down as code so we can recreate any of these exactly, on demand, and so a review catches configuration drift before it happens again. And I want it in Terraform — that's what our other cloud accounts already use." This 'infrastructure has drifted and nobody can explain why' scenario is one of the most common reasons real teams adopt Infrastructure as Code.</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Infrastructure as Code is now a baseline expectation on nearly every Cloud Engineer job posting, not an advanced or optional skill, and Terraform specifically is the most-requested IaC tool in the market because it works identically across AWS, Azure, and GCP. Being able to read and reason about a Terraform configuration — and just as importantly, being able to read a plan and predict exactly what will change before running apply — is exactly what separates someone who's clicked through the console from someone who can be trusted with production infrastructure.</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 Infrastructure as Code — Terraform Fundamentals</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14</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Infrastructure as Code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Manual console work isn't repeatable, reviewable, or version-controlled</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IaC = infrastructure defined in text files, deployed consistently every time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is a baseline expectation on nearly every Cloud Engineer job posting today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 Infrastructure as Code — Terraform Fundamentals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14</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Terraform Specifically</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Cloud-agnostic: the same tool works across AWS, Azure, GCP — a major reason it's the most requested IaC tool in job postings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HCL (HashiCorp Configuration Language): declarative, human-readable syntax</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Massive ecosystem of providers and modules — you rarely start completely from scratch</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 Infrastructure as Code — Terraform Fundamentals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14</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Terraform Anatomy</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Providers: tell Terraform which cloud/API to talk to (aws provider, region, credentials)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Resources: the actual infrastructure objects you want created (aws_instance, aws_security_group)</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Variables and Outputs: parameterize configurations and surface useful values after apply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 Infrastructure as Code — Terraform Fundamentals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14</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The Core Workflow</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terraform init: downloads the provider plugins, sets up the working directory</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terraform plan: shows exactly what will change, before anything happens — the safety net</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terraform apply: executes the plan; terraform destroy: tears everything down cleanly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 Infrastructure as Code — Terraform Fundamentals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14: Deploy Your First Terraform Configuration</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90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Recreate part of Lab 4 (EC2 + Security Group) as Terraform code instead of by hand — and prove you can change it safely with a plan/apply cycle.</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Install Terraform CLI and verify with 'terraform version'</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Write a main.tf defining the AWS provider (region) and a Security Group (SSH from your IP, HTTP from anywhere)</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Add an aws_instance resource using that security group, with a user_data block installing a web server</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init' to initialize the working directory and download the AWS provider</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plan' and read the output carefully — confirm it shows exactly 2 resources to add, nothing more</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apply', type 'yes' to confirm, and verify the EC2 instance and Security Group were created exactly as defined</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Modify the configuration (change the instance type or add a tag), run 'terraform plan' again to preview the change, then 'terraform apply'</a:t>
            </a:r>
            <a:endParaRPr lang="en-US" sz="980" dirty="0"/>
          </a:p>
        </p:txBody>
      </p:sp>
      <p:sp>
        <p:nvSpPr>
          <p:cNvPr id="31" name="Shape 29"/>
          <p:cNvSpPr/>
          <p:nvPr/>
        </p:nvSpPr>
        <p:spPr>
          <a:xfrm>
            <a:off x="6277356" y="4379976"/>
            <a:ext cx="256032" cy="256032"/>
          </a:xfrm>
          <a:prstGeom prst="roundRect">
            <a:avLst>
              <a:gd name="adj" fmla="val 17857"/>
            </a:avLst>
          </a:prstGeom>
          <a:solidFill>
            <a:srgbClr val="1D8348"/>
          </a:solidFill>
          <a:ln/>
        </p:spPr>
        <p:txBody>
          <a:bodyPr/>
          <a:lstStyle/>
          <a:p>
            <a:endParaRPr lang="en-NG"/>
          </a:p>
        </p:txBody>
      </p:sp>
      <p:sp>
        <p:nvSpPr>
          <p:cNvPr id="32" name="Text 30"/>
          <p:cNvSpPr/>
          <p:nvPr/>
        </p:nvSpPr>
        <p:spPr>
          <a:xfrm>
            <a:off x="6277356"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3" name="Text 31"/>
          <p:cNvSpPr/>
          <p:nvPr/>
        </p:nvSpPr>
        <p:spPr>
          <a:xfrm>
            <a:off x="6643116"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destroy' to tear down everything cleanly, and confirm in the console that both resources are gone</a:t>
            </a:r>
            <a:endParaRPr lang="en-US" sz="980" dirty="0"/>
          </a:p>
        </p:txBody>
      </p:sp>
      <p:sp>
        <p:nvSpPr>
          <p:cNvPr id="34" name="Text 32"/>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 Infrastructure as Code — Terraform Fundamentals</a:t>
            </a:r>
            <a:endParaRPr lang="en-US" sz="900" dirty="0"/>
          </a:p>
        </p:txBody>
      </p:sp>
      <p:sp>
        <p:nvSpPr>
          <p:cNvPr id="35" name="Text 33"/>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Using a hardcoded AMI ID without verifying it's still valid for the current Region and date — AMI IDs change over time as AWS releases new versions, and a hardcoded ID from months ago may no longer exist.</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Running 'terraform apply' without reading the 'terraform plan' output first — this is exactly how unintended changes reach real infrastructure, and reading the plan is the single most important safety habit in this entire lab.</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Manually editing a resource in the AWS console after creating it with Terraform — this creates 'drift' between the code and reality, and the next apply may silently revert your manual change or, worse, fail confusingly.</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that 'terraform destroy' removes every resource in the current state file, including ones you might have wanted to keep — always double check what's being destroyed in a real environment before confirming.</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 Infrastructure as Code — Terraform Fundamentals</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E07C00"/>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The final main.tf file, plus terminal output showing a successful 'terraform apply' and the resulting public IP from an output block.</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E07C00"/>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14: Infrastructure as Code — Terraform Fundamentals</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E07C00"/>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5  •  SESSION 15</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Terraform for Multi-Tier Infrastructure</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E07C00"/>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E07C00"/>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Structure a Terraform configuration across multiple resource types (VPC, EC2, security groups)</a:t>
            </a:r>
            <a:endParaRPr lang="en-US" sz="1350" dirty="0"/>
          </a:p>
        </p:txBody>
      </p:sp>
      <p:sp>
        <p:nvSpPr>
          <p:cNvPr id="9" name="Shape 7"/>
          <p:cNvSpPr/>
          <p:nvPr/>
        </p:nvSpPr>
        <p:spPr>
          <a:xfrm>
            <a:off x="502920" y="3136392"/>
            <a:ext cx="292608" cy="292608"/>
          </a:xfrm>
          <a:prstGeom prst="roundRect">
            <a:avLst>
              <a:gd name="adj" fmla="val 50000"/>
            </a:avLst>
          </a:prstGeom>
          <a:solidFill>
            <a:srgbClr val="E07C00"/>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Use variables and outputs to make configurations reusable</a:t>
            </a:r>
            <a:endParaRPr lang="en-US" sz="1350" dirty="0"/>
          </a:p>
        </p:txBody>
      </p:sp>
      <p:sp>
        <p:nvSpPr>
          <p:cNvPr id="12" name="Shape 10"/>
          <p:cNvSpPr/>
          <p:nvPr/>
        </p:nvSpPr>
        <p:spPr>
          <a:xfrm>
            <a:off x="502920" y="3913632"/>
            <a:ext cx="292608" cy="292608"/>
          </a:xfrm>
          <a:prstGeom prst="roundRect">
            <a:avLst>
              <a:gd name="adj" fmla="val 50000"/>
            </a:avLst>
          </a:prstGeom>
          <a:solidFill>
            <a:srgbClr val="E07C00"/>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Manage Terraform state and understand why it matters</a:t>
            </a:r>
            <a:endParaRPr lang="en-US" sz="1350" dirty="0"/>
          </a:p>
        </p:txBody>
      </p:sp>
      <p:sp>
        <p:nvSpPr>
          <p:cNvPr id="15" name="Shape 13"/>
          <p:cNvSpPr/>
          <p:nvPr/>
        </p:nvSpPr>
        <p:spPr>
          <a:xfrm>
            <a:off x="502920" y="4690872"/>
            <a:ext cx="292608" cy="292608"/>
          </a:xfrm>
          <a:prstGeom prst="roundRect">
            <a:avLst>
              <a:gd name="adj" fmla="val 50000"/>
            </a:avLst>
          </a:prstGeom>
          <a:solidFill>
            <a:srgbClr val="E07C00"/>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Safely update and refactor a running Terraform-managed environment</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Junior Cloud Engineer, taking ownership of a growing environment</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The company's AWS footprint has grown from a handful of console-created resources to something nobody fully understands anymore — nobody can say with confidence exactly what network topology exists without logging in and clicking through every screen. Your manager says: "I want the entire network layer — VPC, subnets, routing, the works — captured as code, so that if we ever need to spin up a second identical environment for staging, it's a single command, not a week of clicking." This 'our environment only exists in someone's head' scenario is one of the most common and most valuable Cloud Engineer projects in a real company.</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Managing multi-resource environments with Terraform — not just a single instance, but an entire interdependent network — is the exact skill that separates 'I've used Terraform once' from 'I can be trusted to manage real infrastructure.' Interviewers frequently ask candidates to describe how Terraform sequences resource creation and how state works, because it reveals whether you understand the tool or just memorized a few commands.</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 Terraform for Multi-Tier Infrastructure</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15</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Terraform State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terraform.tfstate: Terraform's record of what it created and its current configuration</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Why state matters: it's how Terraform knows what to change, add, or destroy on the next apply</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State file safety: never hand-edit it, and be careful with sensitive data it may contain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 Terraform for Multi-Tier Infrastructure</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15</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Variables &amp; Outputs at Scale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variables.tf: centralize configurable values (instance type, CIDR blocks, environment name)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terraform.tfvars: supply actual values without hardcoding them into resource definitions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outputs.tf: surface useful values (public IPs, ARNs) after apply, for use elsewhere or just visibility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 Terraform for Multi-Tier Infrastructure</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15</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Organizing Multi-Resource Configurations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Splitting a configuration into logical files (network.tf, compute.tf, variables.tf) for readability</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Resource dependencies: Terraform automatically sequences creation based on references between resources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is exactly the structure you'll use for the Week 6 capstone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 Terraform for Multi-Tier Infrastructure</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E07C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15</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Safe Change Management</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E07C00"/>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Always run 'terraform plan' before 'terraform apply' — reading the diff is the single most important safety habit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E07C00"/>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Recognize when a change will happen in-place vs. force a resource to be destroyed and recreated</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E07C00"/>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plan-before-apply discipline is a frequently asked interview question about safe infrastructure change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 Terraform for Multi-Tier Infrastructure</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Lab 15: Provision a Multi-Tier Network with Terraform</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100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Rebuild the VPC + public/private subnet pattern from Lab 7 entirely as Terraform code, proving you can manage a real multi-resource environment safely.</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Create a new Terraform project with variables.tf (region, vpc_cidr, public_subnet_cidr, private_subnet_cidr), main.tf, and outputs.tf</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In main.tf, define an aws_vpc resource, an aws_subnet for public and one for private, an aws_internet_gateway, and an aws_route_table with association</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plan' and confirm the resource count and dependency order look correct before applying anything</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apply' and verify in the AWS console that the VPC, subnets, IGW, and route table match exactly what was planned</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Add an output block that surfaces the VPC ID and public subnet ID after apply</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Make a deliberate change (e.g., resize the public subnet's CIDR) and run 'terraform plan' — read carefully whether Terraform proposes an in-place update or a destroy-and-recreate, and explain which and why</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destroy' to tear down the entire environment in one command, and confirm nothing remains in the console</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 Terraform for Multi-Tier Infrastructure</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Hardcoding values (CIDR blocks, region, environment name) directly into resource blocks instead of using variables — this makes the configuration far harder to reuse for a second environment, which defeats much of the point of IaC.</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Not understanding that Terraform automatically determines resource creation order based on references between resources — manually trying to force an order with unnecessary dependencies adds needless complexity.</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Losing track of the state file (terraform.tfstate) — deleting it, moving it without care, or running Terraform from a different machine without the same state visible, which makes Terraform think all resources need to be recreated from scratch.</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Not committing the .tf files to version control (while correctly excluding the state file and any files with secrets) — the whole point of IaC is a reviewable, shareable history of infrastructure changes.</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 Terraform for Multi-Tier Infrastructure</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E07C00"/>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The complete Terraform project folder (all .tf files), plus terminal output showing the full plan and apply cycle for the multi-resource network.</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E07C00"/>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5 · Session 15: Terraform for Multi-Tier Infrastructure</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txBody>
          <a:bodyPr/>
          <a:lstStyle/>
          <a:p>
            <a:endParaRPr lang="en-NG"/>
          </a:p>
        </p:txBody>
      </p:sp>
      <p:sp>
        <p:nvSpPr>
          <p:cNvPr id="3" name="Text 1"/>
          <p:cNvSpPr/>
          <p:nvPr/>
        </p:nvSpPr>
        <p:spPr>
          <a:xfrm>
            <a:off x="502920" y="2286000"/>
            <a:ext cx="7315200" cy="640080"/>
          </a:xfrm>
          <a:prstGeom prst="rect">
            <a:avLst/>
          </a:prstGeom>
          <a:noFill/>
          <a:ln/>
        </p:spPr>
        <p:txBody>
          <a:bodyPr wrap="square" rtlCol="0" anchor="ctr"/>
          <a:lstStyle/>
          <a:p>
            <a:pPr marL="0" indent="0">
              <a:buNone/>
            </a:pPr>
            <a:r>
              <a:rPr lang="en-US" sz="2000" b="1" kern="0" spc="300" dirty="0">
                <a:solidFill>
                  <a:srgbClr val="FFD9A3"/>
                </a:solidFill>
                <a:latin typeface="Calibri" pitchFamily="34" charset="0"/>
                <a:ea typeface="Calibri" pitchFamily="34" charset="-122"/>
                <a:cs typeface="Calibri" pitchFamily="34" charset="-120"/>
              </a:rPr>
              <a:t>WEEK 6</a:t>
            </a:r>
            <a:endParaRPr lang="en-US" sz="2000" dirty="0"/>
          </a:p>
        </p:txBody>
      </p:sp>
      <p:sp>
        <p:nvSpPr>
          <p:cNvPr id="4" name="Text 2"/>
          <p:cNvSpPr/>
          <p:nvPr/>
        </p:nvSpPr>
        <p:spPr>
          <a:xfrm>
            <a:off x="502920" y="2834640"/>
            <a:ext cx="96012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Capstone Project &amp; Career Launch</a:t>
            </a:r>
            <a:endParaRPr lang="en-US" sz="4000" dirty="0"/>
          </a:p>
        </p:txBody>
      </p:sp>
      <p:sp>
        <p:nvSpPr>
          <p:cNvPr id="5" name="Text 3"/>
          <p:cNvSpPr/>
          <p:nvPr/>
        </p:nvSpPr>
        <p:spPr>
          <a:xfrm>
            <a:off x="502920" y="3794760"/>
            <a:ext cx="9144000" cy="548640"/>
          </a:xfrm>
          <a:prstGeom prst="rect">
            <a:avLst/>
          </a:prstGeom>
          <a:noFill/>
          <a:ln/>
        </p:spPr>
        <p:txBody>
          <a:bodyPr wrap="square" rtlCol="0" anchor="ctr"/>
          <a:lstStyle/>
          <a:p>
            <a:pPr marL="0" indent="0">
              <a:buNone/>
            </a:pPr>
            <a:r>
              <a:rPr lang="en-US" sz="1700" i="1" dirty="0">
                <a:solidFill>
                  <a:srgbClr val="D9E2EC"/>
                </a:solidFill>
                <a:latin typeface="Calibri" pitchFamily="34" charset="0"/>
                <a:ea typeface="Calibri" pitchFamily="34" charset="-122"/>
                <a:cs typeface="Calibri" pitchFamily="34" charset="-120"/>
              </a:rPr>
              <a:t>Ship a portfolio project and get interview-ready</a:t>
            </a:r>
            <a:endParaRPr lang="en-US" sz="1700" dirty="0"/>
          </a:p>
        </p:txBody>
      </p:sp>
      <p:sp>
        <p:nvSpPr>
          <p:cNvPr id="6" name="Shape 4"/>
          <p:cNvSpPr/>
          <p:nvPr/>
        </p:nvSpPr>
        <p:spPr>
          <a:xfrm>
            <a:off x="50292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7" name="Text 5"/>
          <p:cNvSpPr/>
          <p:nvPr/>
        </p:nvSpPr>
        <p:spPr>
          <a:xfrm>
            <a:off x="68580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16</a:t>
            </a:r>
            <a:endParaRPr lang="en-US" sz="1000" dirty="0"/>
          </a:p>
        </p:txBody>
      </p:sp>
      <p:sp>
        <p:nvSpPr>
          <p:cNvPr id="8" name="Text 6"/>
          <p:cNvSpPr/>
          <p:nvPr/>
        </p:nvSpPr>
        <p:spPr>
          <a:xfrm>
            <a:off x="68580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Capstone Project Kickoff — Full 3-Tier Architecture</a:t>
            </a:r>
            <a:endParaRPr lang="en-US" sz="1250" dirty="0"/>
          </a:p>
        </p:txBody>
      </p:sp>
      <p:sp>
        <p:nvSpPr>
          <p:cNvPr id="9" name="Shape 7"/>
          <p:cNvSpPr/>
          <p:nvPr/>
        </p:nvSpPr>
        <p:spPr>
          <a:xfrm>
            <a:off x="420624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0" name="Text 8"/>
          <p:cNvSpPr/>
          <p:nvPr/>
        </p:nvSpPr>
        <p:spPr>
          <a:xfrm>
            <a:off x="438912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17</a:t>
            </a:r>
            <a:endParaRPr lang="en-US" sz="1000" dirty="0"/>
          </a:p>
        </p:txBody>
      </p:sp>
      <p:sp>
        <p:nvSpPr>
          <p:cNvPr id="11" name="Text 9"/>
          <p:cNvSpPr/>
          <p:nvPr/>
        </p:nvSpPr>
        <p:spPr>
          <a:xfrm>
            <a:off x="438912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Capstone Build — Data Layer &amp; Monitoring Integration</a:t>
            </a:r>
            <a:endParaRPr lang="en-US" sz="1250" dirty="0"/>
          </a:p>
        </p:txBody>
      </p:sp>
      <p:sp>
        <p:nvSpPr>
          <p:cNvPr id="12" name="Shape 10"/>
          <p:cNvSpPr/>
          <p:nvPr/>
        </p:nvSpPr>
        <p:spPr>
          <a:xfrm>
            <a:off x="7909560" y="4617720"/>
            <a:ext cx="3429000" cy="1371600"/>
          </a:xfrm>
          <a:prstGeom prst="roundRect">
            <a:avLst>
              <a:gd name="adj" fmla="val 4667"/>
            </a:avLst>
          </a:prstGeom>
          <a:solidFill>
            <a:srgbClr val="FFFFFF">
              <a:alpha val="10000"/>
            </a:srgbClr>
          </a:solidFill>
          <a:ln w="12700">
            <a:solidFill>
              <a:srgbClr val="FFFFFF"/>
            </a:solidFill>
            <a:prstDash val="solid"/>
          </a:ln>
        </p:spPr>
        <p:txBody>
          <a:bodyPr/>
          <a:lstStyle/>
          <a:p>
            <a:endParaRPr lang="en-NG"/>
          </a:p>
        </p:txBody>
      </p:sp>
      <p:sp>
        <p:nvSpPr>
          <p:cNvPr id="13" name="Text 11"/>
          <p:cNvSpPr/>
          <p:nvPr/>
        </p:nvSpPr>
        <p:spPr>
          <a:xfrm>
            <a:off x="8092440" y="4754880"/>
            <a:ext cx="3063240" cy="274320"/>
          </a:xfrm>
          <a:prstGeom prst="rect">
            <a:avLst/>
          </a:prstGeom>
          <a:noFill/>
          <a:ln/>
        </p:spPr>
        <p:txBody>
          <a:bodyPr wrap="square" rtlCol="0" anchor="ctr"/>
          <a:lstStyle/>
          <a:p>
            <a:pPr marL="0" indent="0">
              <a:buNone/>
            </a:pPr>
            <a:r>
              <a:rPr lang="en-US" sz="1000" b="1" kern="0" spc="100" dirty="0">
                <a:solidFill>
                  <a:srgbClr val="FFD9A3"/>
                </a:solidFill>
                <a:latin typeface="Calibri" pitchFamily="34" charset="0"/>
                <a:ea typeface="Calibri" pitchFamily="34" charset="-122"/>
                <a:cs typeface="Calibri" pitchFamily="34" charset="-120"/>
              </a:rPr>
              <a:t>SESSION 18</a:t>
            </a:r>
            <a:endParaRPr lang="en-US" sz="1000" dirty="0"/>
          </a:p>
        </p:txBody>
      </p:sp>
      <p:sp>
        <p:nvSpPr>
          <p:cNvPr id="14" name="Text 12"/>
          <p:cNvSpPr/>
          <p:nvPr/>
        </p:nvSpPr>
        <p:spPr>
          <a:xfrm>
            <a:off x="8092440" y="5029200"/>
            <a:ext cx="3063240" cy="914400"/>
          </a:xfrm>
          <a:prstGeom prst="rect">
            <a:avLst/>
          </a:prstGeom>
          <a:noFill/>
          <a:ln/>
        </p:spPr>
        <p:txBody>
          <a:bodyPr wrap="square"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Capstone Defense, Resume, Portfolio &amp; Mock Interviews</a:t>
            </a:r>
            <a:endParaRPr lang="en-US" sz="125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1B2A4A"/>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6  •  SESSION 16</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Capstone Project Kickoff — Full 3-Tier Architecture</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1B2A4A"/>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1B2A4A"/>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Design a complete 3-tier architecture on paper before building</a:t>
            </a:r>
            <a:endParaRPr lang="en-US" sz="1350" dirty="0"/>
          </a:p>
        </p:txBody>
      </p:sp>
      <p:sp>
        <p:nvSpPr>
          <p:cNvPr id="9" name="Shape 7"/>
          <p:cNvSpPr/>
          <p:nvPr/>
        </p:nvSpPr>
        <p:spPr>
          <a:xfrm>
            <a:off x="502920" y="3136392"/>
            <a:ext cx="292608" cy="292608"/>
          </a:xfrm>
          <a:prstGeom prst="roundRect">
            <a:avLst>
              <a:gd name="adj" fmla="val 50000"/>
            </a:avLst>
          </a:prstGeom>
          <a:solidFill>
            <a:srgbClr val="1B2A4A"/>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Assemble every prior lab's components into one cohesive project</a:t>
            </a:r>
            <a:endParaRPr lang="en-US" sz="1350" dirty="0"/>
          </a:p>
        </p:txBody>
      </p:sp>
      <p:sp>
        <p:nvSpPr>
          <p:cNvPr id="12" name="Shape 10"/>
          <p:cNvSpPr/>
          <p:nvPr/>
        </p:nvSpPr>
        <p:spPr>
          <a:xfrm>
            <a:off x="502920" y="3913632"/>
            <a:ext cx="292608" cy="292608"/>
          </a:xfrm>
          <a:prstGeom prst="roundRect">
            <a:avLst>
              <a:gd name="adj" fmla="val 50000"/>
            </a:avLst>
          </a:prstGeom>
          <a:solidFill>
            <a:srgbClr val="1B2A4A"/>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Apply cost-optimization thinking to the design</a:t>
            </a:r>
            <a:endParaRPr lang="en-US" sz="1350" dirty="0"/>
          </a:p>
        </p:txBody>
      </p:sp>
      <p:sp>
        <p:nvSpPr>
          <p:cNvPr id="15" name="Shape 13"/>
          <p:cNvSpPr/>
          <p:nvPr/>
        </p:nvSpPr>
        <p:spPr>
          <a:xfrm>
            <a:off x="502920" y="4690872"/>
            <a:ext cx="292608" cy="292608"/>
          </a:xfrm>
          <a:prstGeom prst="roundRect">
            <a:avLst>
              <a:gd name="adj" fmla="val 50000"/>
            </a:avLst>
          </a:prstGeom>
          <a:solidFill>
            <a:srgbClr val="1B2A4A"/>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Begin building the capstone infrastructure</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Cloud Engineer, final project before promotion review</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Your six-month probation review is coming up, and your manager has given you ownership of a new internal tool that needs to be 'production-grade, not a demo' — highly available, privately-databased, provisioned entirely through code, and documented well enough that a teammate could take it over if you were out sick for a month. This is effectively the capstone every early-career Cloud Engineer eventually faces: proving you can assemble everything you've learned into one coherent, defensible system rather than isolated exercises.</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Hiring managers consistently say they trust a documented, working project far more than a list of skills on a resume — this capstone IS your evidence. The architecture you're building here (VPC → ALB/ASG → RDS → S3 → CloudWatch, provisioned with Terraform) is close to a direct match for what's described in a large share of real 'Cloud Engineer' job postings, which means defending it well is genuinely rehearsing your future job.</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 Capstone Project Kickoff — Full 3-Tier Architecture</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16</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The Capstone Brief</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Build: VPC → ALB + ASG (web tier) → RDS (data tier, private) → S3 for static assets → CloudWatch monitoring, provisioned with Terraform</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mirrors real Cloud Engineer job-description architecture almost exactly</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You will present and defend this design in Session 18</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 Capstone Project Kickoff — Full 3-Tier Architecture</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16</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Architecture Diagramming</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Use diagrams.net (draw.io) or Lucidchart with AWS icon sets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 clean architecture diagram is one of the highest-value portfolio artifacts you can show a hiring manager</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Label every subnet, security group, and data flow direction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 Capstone Project Kickoff — Full 3-Tier Architecture</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16</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Cost Optimization Pass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Right-sizing instance types for actual load</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Free Tier boundaries: what stays free vs what starts charging</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AWS Well-Architected Framework's Cost Optimization pillar — name-drop this in interviews</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 Capstone Project Kickoff — Full 3-Tier Architecture</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16</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Build Plan for This Week</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Session 16: design + start build (VPC, compute, storage) with Terraform</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Session 17: finish build + wire in the data layer and monitoring</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Session 18: final polish, documentation, and mock interview defense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 Capstone Project Kickoff — Full 3-Tier Architecture</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Capstone Part 1: Design &amp; Foundation Build</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120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E07C00"/>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SMALL COST</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Produce a professional architecture diagram and stand up the networking + compute foundation for your capstone using Terraform.</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Draw a full architecture diagram: VPC with 2 public + 2 private subnets across 2 AZs, IGW, ALB, ASG, RDS, S3, CloudWatch — label every component</a:t>
            </a:r>
            <a:endParaRPr lang="en-US" sz="980" dirty="0"/>
          </a:p>
        </p:txBody>
      </p:sp>
      <p:sp>
        <p:nvSpPr>
          <p:cNvPr id="13" name="Shape 11"/>
          <p:cNvSpPr/>
          <p:nvPr/>
        </p:nvSpPr>
        <p:spPr>
          <a:xfrm>
            <a:off x="502920" y="31363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502920" y="31363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868680" y="31089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Extend your Terraform project from Lab 15 to include this full network layout (or reuse it directly if it already matches)</a:t>
            </a:r>
            <a:endParaRPr lang="en-US" sz="980" dirty="0"/>
          </a:p>
        </p:txBody>
      </p:sp>
      <p:sp>
        <p:nvSpPr>
          <p:cNvPr id="16" name="Shape 14"/>
          <p:cNvSpPr/>
          <p:nvPr/>
        </p:nvSpPr>
        <p:spPr>
          <a:xfrm>
            <a:off x="502920" y="3593592"/>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5935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5661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Add Terraform resources for a Launch Template + ASG + ALB web tier, following Lab 9's pattern, serving a page that clearly identifies itself as your capstone project</a:t>
            </a:r>
            <a:endParaRPr lang="en-US" sz="980" dirty="0"/>
          </a:p>
        </p:txBody>
      </p:sp>
      <p:sp>
        <p:nvSpPr>
          <p:cNvPr id="19" name="Shape 17"/>
          <p:cNvSpPr/>
          <p:nvPr/>
        </p:nvSpPr>
        <p:spPr>
          <a:xfrm>
            <a:off x="502920" y="4050792"/>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502920" y="40507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868680" y="40233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plan' then 'terraform apply', and confirm the ALB DNS output is publicly reachable and load-balancing across at least 2 instances</a:t>
            </a:r>
            <a:endParaRPr lang="en-US" sz="980" dirty="0"/>
          </a:p>
        </p:txBody>
      </p:sp>
      <p:sp>
        <p:nvSpPr>
          <p:cNvPr id="22" name="Shape 20"/>
          <p:cNvSpPr/>
          <p:nvPr/>
        </p:nvSpPr>
        <p:spPr>
          <a:xfrm>
            <a:off x="502920" y="4507992"/>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45079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44805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Add an aws_db_instance resource for RDS in the private subnets, Security Group locked to the web tier only</a:t>
            </a:r>
            <a:endParaRPr lang="en-US" sz="980" dirty="0"/>
          </a:p>
        </p:txBody>
      </p:sp>
      <p:sp>
        <p:nvSpPr>
          <p:cNvPr id="25" name="Shape 23"/>
          <p:cNvSpPr/>
          <p:nvPr/>
        </p:nvSpPr>
        <p:spPr>
          <a:xfrm>
            <a:off x="502920" y="4965192"/>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502920" y="4965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868680" y="4937760"/>
            <a:ext cx="10817352" cy="457200"/>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Write a one-page README documenting the architecture decisions made so far</a:t>
            </a:r>
            <a:endParaRPr lang="en-US" sz="980" dirty="0"/>
          </a:p>
        </p:txBody>
      </p:sp>
      <p:sp>
        <p:nvSpPr>
          <p:cNvPr id="28" name="Text 2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 Capstone Project Kickoff — Full 3-Tier Architecture</a:t>
            </a:r>
            <a:endParaRPr lang="en-US" sz="900" dirty="0"/>
          </a:p>
        </p:txBody>
      </p:sp>
      <p:sp>
        <p:nvSpPr>
          <p:cNvPr id="29" name="Text 2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Skipping the architecture diagram or treating it as an afterthought — a clear diagram is often the single most-viewed artifact in your portfolio, because it's the fastest way for a hiring manager to assess your thinking.</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Under-scoping the design to save time (e.g., a single AZ, no real separation of tiers) — the entire point of the capstone is demonstrating the patterns from Weeks 3-5, not just getting something online.</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Not writing anything down until the very end — starting the README on Day 1 (even in rough form) makes Session 18's final polish dramatically easier and more accurate.</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Treating cost optimization as an afterthought rather than a design input — being able to say 'I chose db.t3.micro because X' is a stronger answer than not having thought about it at all.</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 Capstone Project Kickoff — Full 3-Tier Architecture</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1B2A4A"/>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The architecture diagram (image file), the Terraform project folder, and the working ALB DNS URL.</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1B2A4A"/>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16: Capstone Project Kickoff — Full 3-Tier Architecture</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1B2A4A"/>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6  •  SESSION 17</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Capstone Build — Data Layer &amp; Monitoring Integration</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1B2A4A"/>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1B2A4A"/>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Connect the application to RDS and verify data flow</a:t>
            </a:r>
            <a:endParaRPr lang="en-US" sz="1350" dirty="0"/>
          </a:p>
        </p:txBody>
      </p:sp>
      <p:sp>
        <p:nvSpPr>
          <p:cNvPr id="9" name="Shape 7"/>
          <p:cNvSpPr/>
          <p:nvPr/>
        </p:nvSpPr>
        <p:spPr>
          <a:xfrm>
            <a:off x="502920" y="3136392"/>
            <a:ext cx="292608" cy="292608"/>
          </a:xfrm>
          <a:prstGeom prst="roundRect">
            <a:avLst>
              <a:gd name="adj" fmla="val 50000"/>
            </a:avLst>
          </a:prstGeom>
          <a:solidFill>
            <a:srgbClr val="1B2A4A"/>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Add full CloudWatch monitoring and alerting to the capstone</a:t>
            </a:r>
            <a:endParaRPr lang="en-US" sz="1350" dirty="0"/>
          </a:p>
        </p:txBody>
      </p:sp>
      <p:sp>
        <p:nvSpPr>
          <p:cNvPr id="12" name="Shape 10"/>
          <p:cNvSpPr/>
          <p:nvPr/>
        </p:nvSpPr>
        <p:spPr>
          <a:xfrm>
            <a:off x="502920" y="3913632"/>
            <a:ext cx="292608" cy="292608"/>
          </a:xfrm>
          <a:prstGeom prst="roundRect">
            <a:avLst>
              <a:gd name="adj" fmla="val 50000"/>
            </a:avLst>
          </a:prstGeom>
          <a:solidFill>
            <a:srgbClr val="1B2A4A"/>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Harden IAM roles and security groups for the finished project</a:t>
            </a:r>
            <a:endParaRPr lang="en-US" sz="1350" dirty="0"/>
          </a:p>
        </p:txBody>
      </p:sp>
      <p:sp>
        <p:nvSpPr>
          <p:cNvPr id="15" name="Shape 13"/>
          <p:cNvSpPr/>
          <p:nvPr/>
        </p:nvSpPr>
        <p:spPr>
          <a:xfrm>
            <a:off x="502920" y="4690872"/>
            <a:ext cx="292608" cy="292608"/>
          </a:xfrm>
          <a:prstGeom prst="roundRect">
            <a:avLst>
              <a:gd name="adj" fmla="val 50000"/>
            </a:avLst>
          </a:prstGeom>
          <a:solidFill>
            <a:srgbClr val="1B2A4A"/>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Manage the entire capstone environment as a single Terraform project</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Cloud Engineer, hardening before a stakeholder demo</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Your capstone is functionally working, but your manager reviews it and says: "Functionally working and production-ready are different things. Before you demo this to the department head next week, I want to see zero unnecessary permissions, alerts that would actually catch a real problem, and a README good enough that I could hand this to a new hire — including exactly how to deploy it with a single terraform apply." This hardening-and-documentation pass is exactly what separates a working prototype from something a real team would trust.</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This session mirrors the single most common type of real Cloud Engineer work: not building something new, but integrating, securing, and documenting what already exists. Interviewers specifically probe for this maturity with questions like 'walk me through how you'd harden this before production' — having actually done a security and observability pass on your own Terraform-managed project gives you a real, specific, non-generic answer.</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 Capstone Build — Data Layer &amp; Monitoring Integration</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17</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Bringing It All Together</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session has no new AWS service — it's integration of everything from Weeks 1-5</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Real Cloud Engineer work is mostly integration work, not isolated feature-building</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Expect and debug the small mismatches (wrong SG reference, wrong IAM permission) — this IS the job</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 Capstone Build — Data Layer &amp; Monitoring Integration</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17</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Security Hardening Pass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Review every IAM role attached — confirm least privilege, remove anything unused</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Confirm RDS has zero public exposure, confirm bastion/SSM access still works</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Enable deletion protection on RDS to prevent accidental teardown</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 Capstone Build — Data Layer &amp; Monitoring Integration</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17</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Monitoring Integration</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CloudWatch Alarms for ALB 5xx error rate and unhealthy host count</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Dashboard combining web tier, database, and application metrics in one view</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is the dashboard you'll screen-share in your Session 18 defense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 Capstone Build — Data Layer &amp; Monitoring Integration</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17</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Documentation as a Deliverable</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 hiring manager reading your GitHub README decides in under a minute whether to keep reading</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README should include: architecture diagram, tech stack, how to deploy with Terraform, lessons learned</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This README becomes a direct portfolio artifact you link from your resume</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 Capstone Build — Data Layer &amp; Monitoring Integration</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Capstone Part 2: Integration, Security &amp; Observability</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120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E07C00"/>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SMALL COST</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Turn the foundation from Session 16 into a fully wired, monitored, documented system, entirely managed through Terraform.</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Connect your web tier application to RDS, confirm read/write works from the deployed instances</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Add Terraform resources for CloudWatch Alarms (ALB 5xx errors, RDS connections) and an SNS topic, wired together</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Review and tighten every Security Group and IAM role used in the capstone — remove any leftover AdministratorAccess shortcuts, updating your Terraform code (not just the console) so the fix is permanent</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Enable RDS deletion protection and automated backups via the Terraform resource arguments</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Build a CloudWatch Dashboard covering ALB request count/errors, ASG instance health, RDS CPU/connections</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plan' one final time to confirm the live environment matches your code exactly (no drift), then apply any remaining changes</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Write the full README.md: architecture diagram, service list, Terraform deployment steps, and 3 lessons learned</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 Capstone Build — Data Layer &amp; Monitoring Integration</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Leaving at least one IAM role or user with AdministratorAccess attached 'just in case' from earlier labs — this review pass is exactly where those get caught and fixed, both in this lab and in real audits.</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Adding alarms on metrics that sound impressive but wouldn't actually catch a real problem (vanity monitoring) rather than ones tied to genuine failure modes like 5xx errors or high DB connections.</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Writing a README that describes what the project IS without explaining HOW to deploy it or WHAT you learned — hiring managers specifically look for the 'lessons learned' section as a signal of reflective engineering practice.</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Fixing a security issue by hand in the console instead of updating the Terraform code — this reintroduces the exact configuration drift problem Terraform exists to prevent, and the next apply may undo your fix.</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 Capstone Build — Data Layer &amp; Monitoring Integration</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1B2A4A"/>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Updated README.md committed to your repo, dashboard screenshot, and the complete Terraform project folder with zero configuration drift.</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1B2A4A"/>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17: Capstone Build — Data Layer &amp; Monitoring Integration</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1B2A4A"/>
          </a:solidFill>
          <a:ln/>
        </p:spPr>
        <p:txBody>
          <a:bodyPr/>
          <a:lstStyle/>
          <a:p>
            <a:endParaRPr lang="en-NG"/>
          </a:p>
        </p:txBody>
      </p:sp>
      <p:sp>
        <p:nvSpPr>
          <p:cNvPr id="3" name="Text 1"/>
          <p:cNvSpPr/>
          <p:nvPr/>
        </p:nvSpPr>
        <p:spPr>
          <a:xfrm>
            <a:off x="502920" y="320040"/>
            <a:ext cx="8229600" cy="365760"/>
          </a:xfrm>
          <a:prstGeom prst="rect">
            <a:avLst/>
          </a:prstGeom>
          <a:noFill/>
          <a:ln/>
        </p:spPr>
        <p:txBody>
          <a:bodyPr wrap="square" rtlCol="0" anchor="ctr"/>
          <a:lstStyle/>
          <a:p>
            <a:pPr marL="0" indent="0">
              <a:buNone/>
            </a:pPr>
            <a:r>
              <a:rPr lang="en-US" sz="1300" b="1" kern="0" spc="150" dirty="0">
                <a:solidFill>
                  <a:srgbClr val="FFD9A3"/>
                </a:solidFill>
                <a:latin typeface="Calibri" pitchFamily="34" charset="0"/>
                <a:ea typeface="Calibri" pitchFamily="34" charset="-122"/>
                <a:cs typeface="Calibri" pitchFamily="34" charset="-120"/>
              </a:rPr>
              <a:t>WEEK 6  •  SESSION 18</a:t>
            </a:r>
            <a:endParaRPr lang="en-US" sz="1300" dirty="0"/>
          </a:p>
        </p:txBody>
      </p:sp>
      <p:sp>
        <p:nvSpPr>
          <p:cNvPr id="4" name="Text 2"/>
          <p:cNvSpPr/>
          <p:nvPr/>
        </p:nvSpPr>
        <p:spPr>
          <a:xfrm>
            <a:off x="502920" y="685800"/>
            <a:ext cx="11183112" cy="7772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Capstone Defense, Resume, Portfolio &amp; Mock Interviews</a:t>
            </a:r>
            <a:endParaRPr lang="en-US" sz="2600" dirty="0"/>
          </a:p>
        </p:txBody>
      </p:sp>
      <p:sp>
        <p:nvSpPr>
          <p:cNvPr id="5" name="Text 3"/>
          <p:cNvSpPr/>
          <p:nvPr/>
        </p:nvSpPr>
        <p:spPr>
          <a:xfrm>
            <a:off x="502920" y="1874520"/>
            <a:ext cx="7315200" cy="365760"/>
          </a:xfrm>
          <a:prstGeom prst="rect">
            <a:avLst/>
          </a:prstGeom>
          <a:noFill/>
          <a:ln/>
        </p:spPr>
        <p:txBody>
          <a:bodyPr wrap="square" rtlCol="0" anchor="ctr"/>
          <a:lstStyle/>
          <a:p>
            <a:pPr marL="0" indent="0">
              <a:buNone/>
            </a:pPr>
            <a:r>
              <a:rPr lang="en-US" sz="1300" b="1" kern="0" spc="100" dirty="0">
                <a:solidFill>
                  <a:srgbClr val="1B2A4A"/>
                </a:solidFill>
                <a:latin typeface="Calibri" pitchFamily="34" charset="0"/>
                <a:ea typeface="Calibri" pitchFamily="34" charset="-122"/>
                <a:cs typeface="Calibri" pitchFamily="34" charset="-120"/>
              </a:rPr>
              <a:t>LEARNING OBJECTIVES</a:t>
            </a:r>
            <a:endParaRPr lang="en-US" sz="1300" dirty="0"/>
          </a:p>
        </p:txBody>
      </p:sp>
      <p:sp>
        <p:nvSpPr>
          <p:cNvPr id="6" name="Shape 4"/>
          <p:cNvSpPr/>
          <p:nvPr/>
        </p:nvSpPr>
        <p:spPr>
          <a:xfrm>
            <a:off x="502920" y="2359152"/>
            <a:ext cx="292608" cy="292608"/>
          </a:xfrm>
          <a:prstGeom prst="roundRect">
            <a:avLst>
              <a:gd name="adj" fmla="val 50000"/>
            </a:avLst>
          </a:prstGeom>
          <a:solidFill>
            <a:srgbClr val="1B2A4A"/>
          </a:solidFill>
          <a:ln/>
        </p:spPr>
        <p:txBody>
          <a:bodyPr/>
          <a:lstStyle/>
          <a:p>
            <a:endParaRPr lang="en-NG"/>
          </a:p>
        </p:txBody>
      </p:sp>
      <p:sp>
        <p:nvSpPr>
          <p:cNvPr id="7" name="Text 5"/>
          <p:cNvSpPr/>
          <p:nvPr/>
        </p:nvSpPr>
        <p:spPr>
          <a:xfrm>
            <a:off x="502920" y="235915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0120" y="228600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Present and defend the capstone architecture under questioning</a:t>
            </a:r>
            <a:endParaRPr lang="en-US" sz="1350" dirty="0"/>
          </a:p>
        </p:txBody>
      </p:sp>
      <p:sp>
        <p:nvSpPr>
          <p:cNvPr id="9" name="Shape 7"/>
          <p:cNvSpPr/>
          <p:nvPr/>
        </p:nvSpPr>
        <p:spPr>
          <a:xfrm>
            <a:off x="502920" y="3136392"/>
            <a:ext cx="292608" cy="292608"/>
          </a:xfrm>
          <a:prstGeom prst="roundRect">
            <a:avLst>
              <a:gd name="adj" fmla="val 50000"/>
            </a:avLst>
          </a:prstGeom>
          <a:solidFill>
            <a:srgbClr val="1B2A4A"/>
          </a:solidFill>
          <a:ln/>
        </p:spPr>
        <p:txBody>
          <a:bodyPr/>
          <a:lstStyle/>
          <a:p>
            <a:endParaRPr lang="en-NG"/>
          </a:p>
        </p:txBody>
      </p:sp>
      <p:sp>
        <p:nvSpPr>
          <p:cNvPr id="10" name="Text 8"/>
          <p:cNvSpPr/>
          <p:nvPr/>
        </p:nvSpPr>
        <p:spPr>
          <a:xfrm>
            <a:off x="502920" y="313639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0120" y="306324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Finalize an AWS-focused resume and LinkedIn profile targeting Cloud Engineer roles</a:t>
            </a:r>
            <a:endParaRPr lang="en-US" sz="1350" dirty="0"/>
          </a:p>
        </p:txBody>
      </p:sp>
      <p:sp>
        <p:nvSpPr>
          <p:cNvPr id="12" name="Shape 10"/>
          <p:cNvSpPr/>
          <p:nvPr/>
        </p:nvSpPr>
        <p:spPr>
          <a:xfrm>
            <a:off x="502920" y="3913632"/>
            <a:ext cx="292608" cy="292608"/>
          </a:xfrm>
          <a:prstGeom prst="roundRect">
            <a:avLst>
              <a:gd name="adj" fmla="val 50000"/>
            </a:avLst>
          </a:prstGeom>
          <a:solidFill>
            <a:srgbClr val="1B2A4A"/>
          </a:solidFill>
          <a:ln/>
        </p:spPr>
        <p:txBody>
          <a:bodyPr/>
          <a:lstStyle/>
          <a:p>
            <a:endParaRPr lang="en-NG"/>
          </a:p>
        </p:txBody>
      </p:sp>
      <p:sp>
        <p:nvSpPr>
          <p:cNvPr id="13" name="Text 11"/>
          <p:cNvSpPr/>
          <p:nvPr/>
        </p:nvSpPr>
        <p:spPr>
          <a:xfrm>
            <a:off x="502920" y="391363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0120" y="384048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Complete a structured mock technical interview</a:t>
            </a:r>
            <a:endParaRPr lang="en-US" sz="1350" dirty="0"/>
          </a:p>
        </p:txBody>
      </p:sp>
      <p:sp>
        <p:nvSpPr>
          <p:cNvPr id="15" name="Shape 13"/>
          <p:cNvSpPr/>
          <p:nvPr/>
        </p:nvSpPr>
        <p:spPr>
          <a:xfrm>
            <a:off x="502920" y="4690872"/>
            <a:ext cx="292608" cy="292608"/>
          </a:xfrm>
          <a:prstGeom prst="roundRect">
            <a:avLst>
              <a:gd name="adj" fmla="val 50000"/>
            </a:avLst>
          </a:prstGeom>
          <a:solidFill>
            <a:srgbClr val="1B2A4A"/>
          </a:solidFill>
          <a:ln/>
        </p:spPr>
        <p:txBody>
          <a:bodyPr/>
          <a:lstStyle/>
          <a:p>
            <a:endParaRPr lang="en-NG"/>
          </a:p>
        </p:txBody>
      </p:sp>
      <p:sp>
        <p:nvSpPr>
          <p:cNvPr id="16" name="Text 14"/>
          <p:cNvSpPr/>
          <p:nvPr/>
        </p:nvSpPr>
        <p:spPr>
          <a:xfrm>
            <a:off x="502920" y="469087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4617720"/>
            <a:ext cx="10725912" cy="685800"/>
          </a:xfrm>
          <a:prstGeom prst="rect">
            <a:avLst/>
          </a:prstGeom>
          <a:noFill/>
          <a:ln/>
        </p:spPr>
        <p:txBody>
          <a:bodyPr wrap="square" rtlCol="0" anchor="ctr"/>
          <a:lstStyle/>
          <a:p>
            <a:pPr marL="0" indent="0">
              <a:lnSpc>
                <a:spcPct val="110000"/>
              </a:lnSpc>
              <a:buNone/>
            </a:pPr>
            <a:r>
              <a:rPr lang="en-US" sz="1350" dirty="0">
                <a:solidFill>
                  <a:srgbClr val="16202B"/>
                </a:solidFill>
                <a:latin typeface="Calibri" pitchFamily="34" charset="0"/>
                <a:ea typeface="Calibri" pitchFamily="34" charset="-122"/>
                <a:cs typeface="Calibri" pitchFamily="34" charset="-120"/>
              </a:rPr>
              <a:t>Leave with a concrete 30-60-90 day job search plan</a:t>
            </a:r>
            <a:endParaRPr lang="en-US" sz="135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a:t>
            </a:r>
            <a:endParaRPr lang="en-US" sz="900" dirty="0"/>
          </a:p>
        </p:txBody>
      </p:sp>
      <p:sp>
        <p:nvSpPr>
          <p:cNvPr id="19" name="Text 17"/>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6B4FA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REAL-WORLD CONTEXT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Why This Session Matters on the Job</a:t>
            </a:r>
            <a:endParaRPr lang="en-US" sz="3000" dirty="0"/>
          </a:p>
        </p:txBody>
      </p:sp>
      <p:sp>
        <p:nvSpPr>
          <p:cNvPr id="5" name="Shape 3"/>
          <p:cNvSpPr/>
          <p:nvPr/>
        </p:nvSpPr>
        <p:spPr>
          <a:xfrm>
            <a:off x="502920" y="1874520"/>
            <a:ext cx="11183112" cy="2788920"/>
          </a:xfrm>
          <a:prstGeom prst="roundRect">
            <a:avLst>
              <a:gd name="adj" fmla="val 2295"/>
            </a:avLst>
          </a:prstGeom>
          <a:solidFill>
            <a:srgbClr val="F3EEFA"/>
          </a:solidFill>
          <a:ln/>
        </p:spPr>
        <p:txBody>
          <a:bodyPr/>
          <a:lstStyle/>
          <a:p>
            <a:endParaRPr lang="en-NG"/>
          </a:p>
        </p:txBody>
      </p:sp>
      <p:sp>
        <p:nvSpPr>
          <p:cNvPr id="6" name="Shape 4"/>
          <p:cNvSpPr/>
          <p:nvPr/>
        </p:nvSpPr>
        <p:spPr>
          <a:xfrm>
            <a:off x="502920" y="1874520"/>
            <a:ext cx="82296" cy="2788920"/>
          </a:xfrm>
          <a:prstGeom prst="rect">
            <a:avLst/>
          </a:prstGeom>
          <a:solidFill>
            <a:srgbClr val="6B4FA0"/>
          </a:solidFill>
          <a:ln/>
        </p:spPr>
        <p:txBody>
          <a:bodyPr/>
          <a:lstStyle/>
          <a:p>
            <a:endParaRPr lang="en-NG"/>
          </a:p>
        </p:txBody>
      </p:sp>
      <p:sp>
        <p:nvSpPr>
          <p:cNvPr id="7" name="Text 5"/>
          <p:cNvSpPr/>
          <p:nvPr/>
        </p:nvSpPr>
        <p:spPr>
          <a:xfrm>
            <a:off x="822960" y="2039112"/>
            <a:ext cx="3657600" cy="274320"/>
          </a:xfrm>
          <a:prstGeom prst="rect">
            <a:avLst/>
          </a:prstGeom>
          <a:noFill/>
          <a:ln/>
        </p:spPr>
        <p:txBody>
          <a:bodyPr wrap="square" rtlCol="0" anchor="ctr"/>
          <a:lstStyle/>
          <a:p>
            <a:pPr marL="0" indent="0">
              <a:buNone/>
            </a:pPr>
            <a:r>
              <a:rPr lang="en-US" sz="1100" b="1" kern="0" spc="100" dirty="0">
                <a:solidFill>
                  <a:srgbClr val="6B4FA0"/>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822960" y="2331720"/>
            <a:ext cx="10543032" cy="320040"/>
          </a:xfrm>
          <a:prstGeom prst="rect">
            <a:avLst/>
          </a:prstGeom>
          <a:noFill/>
          <a:ln/>
        </p:spPr>
        <p:txBody>
          <a:bodyPr wrap="square" rtlCol="0" anchor="ctr"/>
          <a:lstStyle/>
          <a:p>
            <a:pPr marL="0" indent="0">
              <a:buNone/>
            </a:pPr>
            <a:r>
              <a:rPr lang="en-US" sz="1200" b="1" i="1" dirty="0">
                <a:solidFill>
                  <a:srgbClr val="232F3E"/>
                </a:solidFill>
                <a:latin typeface="Calibri" pitchFamily="34" charset="0"/>
                <a:ea typeface="Calibri" pitchFamily="34" charset="-122"/>
                <a:cs typeface="Calibri" pitchFamily="34" charset="-120"/>
              </a:rPr>
              <a:t>Role: Bootcamp graduate, week one of active job searching</a:t>
            </a:r>
            <a:endParaRPr lang="en-US" sz="1200" dirty="0"/>
          </a:p>
        </p:txBody>
      </p:sp>
      <p:sp>
        <p:nvSpPr>
          <p:cNvPr id="9" name="Text 7"/>
          <p:cNvSpPr/>
          <p:nvPr/>
        </p:nvSpPr>
        <p:spPr>
          <a:xfrm>
            <a:off x="822960" y="2697480"/>
            <a:ext cx="10543032" cy="1783080"/>
          </a:xfrm>
          <a:prstGeom prst="rect">
            <a:avLst/>
          </a:prstGeom>
          <a:noFill/>
          <a:ln/>
        </p:spPr>
        <p:txBody>
          <a:bodyPr wrap="square" rtlCol="0" anchor="t"/>
          <a:lstStyle/>
          <a:p>
            <a:pPr marL="0" indent="0">
              <a:lnSpc>
                <a:spcPct val="120000"/>
              </a:lnSpc>
              <a:buNone/>
            </a:pPr>
            <a:r>
              <a:rPr lang="en-US" sz="1250" dirty="0">
                <a:solidFill>
                  <a:srgbClr val="16202B"/>
                </a:solidFill>
                <a:latin typeface="Calibri" pitchFamily="34" charset="0"/>
                <a:ea typeface="Calibri" pitchFamily="34" charset="-122"/>
                <a:cs typeface="Calibri" pitchFamily="34" charset="-120"/>
              </a:rPr>
              <a:t>It's the Monday after your final session. You open LinkedIn, and a recruiter has already messaged asking "tell me about a recent AWS project you've built." This is not hypothetical — this is the exact moment this entire bootcamp has been building toward, and how you answer in the next five minutes is a preview of your next real interview.</a:t>
            </a:r>
            <a:endParaRPr lang="en-US" sz="1250" dirty="0"/>
          </a:p>
        </p:txBody>
      </p:sp>
      <p:sp>
        <p:nvSpPr>
          <p:cNvPr id="10" name="Shape 8"/>
          <p:cNvSpPr/>
          <p:nvPr/>
        </p:nvSpPr>
        <p:spPr>
          <a:xfrm>
            <a:off x="502920" y="4892040"/>
            <a:ext cx="11183112" cy="1417320"/>
          </a:xfrm>
          <a:prstGeom prst="roundRect">
            <a:avLst>
              <a:gd name="adj" fmla="val 4516"/>
            </a:avLst>
          </a:prstGeom>
          <a:solidFill>
            <a:srgbClr val="FFF4E5"/>
          </a:solidFill>
          <a:ln/>
        </p:spPr>
        <p:txBody>
          <a:bodyPr/>
          <a:lstStyle/>
          <a:p>
            <a:endParaRPr lang="en-NG"/>
          </a:p>
        </p:txBody>
      </p:sp>
      <p:sp>
        <p:nvSpPr>
          <p:cNvPr id="11" name="Text 9"/>
          <p:cNvSpPr/>
          <p:nvPr/>
        </p:nvSpPr>
        <p:spPr>
          <a:xfrm>
            <a:off x="777240" y="5029200"/>
            <a:ext cx="4572000" cy="274320"/>
          </a:xfrm>
          <a:prstGeom prst="rect">
            <a:avLst/>
          </a:prstGeom>
          <a:noFill/>
          <a:ln/>
        </p:spPr>
        <p:txBody>
          <a:bodyPr wrap="square" rtlCol="0" anchor="ctr"/>
          <a:lstStyle/>
          <a:p>
            <a:pPr marL="0" indent="0">
              <a:buNone/>
            </a:pPr>
            <a:r>
              <a:rPr lang="en-US" sz="1100" b="1" kern="0" spc="100" dirty="0">
                <a:solidFill>
                  <a:srgbClr val="E07C00"/>
                </a:solidFill>
                <a:latin typeface="Calibri" pitchFamily="34" charset="0"/>
                <a:ea typeface="Calibri" pitchFamily="34" charset="-122"/>
                <a:cs typeface="Calibri" pitchFamily="34" charset="-120"/>
              </a:rPr>
              <a:t>WHY THIS MATTERS</a:t>
            </a:r>
            <a:endParaRPr lang="en-US" sz="1100" dirty="0"/>
          </a:p>
        </p:txBody>
      </p:sp>
      <p:sp>
        <p:nvSpPr>
          <p:cNvPr id="12" name="Text 10"/>
          <p:cNvSpPr/>
          <p:nvPr/>
        </p:nvSpPr>
        <p:spPr>
          <a:xfrm>
            <a:off x="777240" y="5330952"/>
            <a:ext cx="10634472" cy="914400"/>
          </a:xfrm>
          <a:prstGeom prst="rect">
            <a:avLst/>
          </a:prstGeom>
          <a:noFill/>
          <a:ln/>
        </p:spPr>
        <p:txBody>
          <a:bodyPr wrap="square" rtlCol="0" anchor="t"/>
          <a:lstStyle/>
          <a:p>
            <a:pPr marL="0" indent="0">
              <a:lnSpc>
                <a:spcPct val="115000"/>
              </a:lnSpc>
              <a:buNone/>
            </a:pPr>
            <a:r>
              <a:rPr lang="en-US" sz="1150" dirty="0">
                <a:solidFill>
                  <a:srgbClr val="16202B"/>
                </a:solidFill>
                <a:latin typeface="Calibri" pitchFamily="34" charset="0"/>
                <a:ea typeface="Calibri" pitchFamily="34" charset="-122"/>
                <a:cs typeface="Calibri" pitchFamily="34" charset="-120"/>
              </a:rPr>
              <a:t>The technical skills from Weeks 1-5 get you in the door; how you present them is what gets you the offer. Hiring managers consistently report that candidates who can clearly narrate WHY they made specific architecture and tooling decisions stand out far more than candidates who simply list AWS services they've 'used' — this session is deliberately designed to force that narration out loud, under mild pressure, before it matters for real.</a:t>
            </a:r>
            <a:endParaRPr lang="en-US" sz="1150" dirty="0"/>
          </a:p>
        </p:txBody>
      </p:sp>
      <p:sp>
        <p:nvSpPr>
          <p:cNvPr id="13" name="Text 11"/>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 Capstone Defense, Resume, Portfolio &amp; Mock Interviews</a:t>
            </a:r>
            <a:endParaRPr lang="en-US" sz="900" dirty="0"/>
          </a:p>
        </p:txBody>
      </p:sp>
      <p:sp>
        <p:nvSpPr>
          <p:cNvPr id="14" name="Text 12"/>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18</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1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Presenting Technical Work</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Structure: problem → architecture → tradeoffs → what you'd improve with more time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Anticipate the 'why did you choose X over Y' question for every major decision</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Practicing this out loud matters more than practicing it silently — you will present today</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 Capstone Defense, Resume, Portfolio &amp; Mock Interviews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18</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2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Resume &amp; LinkedIn for Cloud Engineer Roles</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Lead with quantifiable outcomes: 'Provisioned a highly-available 3-tier AWS architecture entirely via Terraform, cutting manual setup time from hours to minutes'</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List specific services and tools (EC2, VPC, RDS, Lambda, Terraform) — recruiters keyword-search these</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LinkedIn 'Open to Work' + 'Cloud Engineer' + AWS keywords in headline meaningfully increases recruiter inbound</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 Capstone Defense, Resume, Portfolio &amp; Mock Interviews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18</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3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Certification Path Forward</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AWS Certified Cloud Practitioner: broad foundation, good first cert if you want extra confidence</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AWS Certified Solutions Architect – Associate: the most requested cert in Cloud Engineer job postings, natural next step from this bootcamp</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AWS Certified SysOps Administrator – Associate or Security – Specialty: pick based on the specialization you enjoyed most</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 Capstone Defense, Resume, Portfolio &amp; Mock Interviews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SESSION 18</a:t>
            </a:r>
            <a:endParaRPr lang="en-US" sz="1200" dirty="0"/>
          </a:p>
        </p:txBody>
      </p:sp>
      <p:sp>
        <p:nvSpPr>
          <p:cNvPr id="4" name="Text 2"/>
          <p:cNvSpPr/>
          <p:nvPr/>
        </p:nvSpPr>
        <p:spPr>
          <a:xfrm>
            <a:off x="10588752" y="411480"/>
            <a:ext cx="1097280" cy="365760"/>
          </a:xfrm>
          <a:prstGeom prst="rect">
            <a:avLst/>
          </a:prstGeom>
          <a:noFill/>
          <a:ln/>
        </p:spPr>
        <p:txBody>
          <a:bodyPr wrap="square" rtlCol="0" anchor="ctr"/>
          <a:lstStyle/>
          <a:p>
            <a:pPr marL="0" indent="0" algn="r">
              <a:buNone/>
            </a:pPr>
            <a:r>
              <a:rPr lang="en-US" sz="1100" dirty="0">
                <a:solidFill>
                  <a:srgbClr val="5A6B7A"/>
                </a:solidFill>
                <a:latin typeface="Calibri" pitchFamily="34" charset="0"/>
                <a:ea typeface="Calibri" pitchFamily="34" charset="-122"/>
                <a:cs typeface="Calibri" pitchFamily="34" charset="-120"/>
              </a:rPr>
              <a:t>4 / 4</a:t>
            </a:r>
            <a:endParaRPr lang="en-US" sz="1100" dirty="0"/>
          </a:p>
        </p:txBody>
      </p:sp>
      <p:sp>
        <p:nvSpPr>
          <p:cNvPr id="5" name="Text 3"/>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The 30-60-90 Day Plan</a:t>
            </a:r>
            <a:endParaRPr lang="en-US" sz="3000" dirty="0"/>
          </a:p>
        </p:txBody>
      </p:sp>
      <p:sp>
        <p:nvSpPr>
          <p:cNvPr id="6" name="Shape 4"/>
          <p:cNvSpPr/>
          <p:nvPr/>
        </p:nvSpPr>
        <p:spPr>
          <a:xfrm>
            <a:off x="502920" y="196596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7" name="Shape 5"/>
          <p:cNvSpPr/>
          <p:nvPr/>
        </p:nvSpPr>
        <p:spPr>
          <a:xfrm>
            <a:off x="731520" y="2240280"/>
            <a:ext cx="274320" cy="274320"/>
          </a:xfrm>
          <a:prstGeom prst="roundRect">
            <a:avLst>
              <a:gd name="adj" fmla="val 50000"/>
            </a:avLst>
          </a:prstGeom>
          <a:solidFill>
            <a:srgbClr val="1B2A4A"/>
          </a:solidFill>
          <a:ln/>
        </p:spPr>
        <p:txBody>
          <a:bodyPr/>
          <a:lstStyle/>
          <a:p>
            <a:endParaRPr lang="en-NG"/>
          </a:p>
        </p:txBody>
      </p:sp>
      <p:sp>
        <p:nvSpPr>
          <p:cNvPr id="8" name="Text 6"/>
          <p:cNvSpPr/>
          <p:nvPr/>
        </p:nvSpPr>
        <p:spPr>
          <a:xfrm>
            <a:off x="1188720" y="196596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Days 1-30: certification study + 5 tailored Cloud Engineer applications/week + polish GitHub</a:t>
            </a:r>
            <a:endParaRPr lang="en-US" sz="1400" dirty="0"/>
          </a:p>
        </p:txBody>
      </p:sp>
      <p:sp>
        <p:nvSpPr>
          <p:cNvPr id="9" name="Shape 7"/>
          <p:cNvSpPr/>
          <p:nvPr/>
        </p:nvSpPr>
        <p:spPr>
          <a:xfrm>
            <a:off x="502920" y="292608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0" name="Shape 8"/>
          <p:cNvSpPr/>
          <p:nvPr/>
        </p:nvSpPr>
        <p:spPr>
          <a:xfrm>
            <a:off x="731520" y="3200400"/>
            <a:ext cx="274320" cy="274320"/>
          </a:xfrm>
          <a:prstGeom prst="roundRect">
            <a:avLst>
              <a:gd name="adj" fmla="val 50000"/>
            </a:avLst>
          </a:prstGeom>
          <a:solidFill>
            <a:srgbClr val="1B2A4A"/>
          </a:solidFill>
          <a:ln/>
        </p:spPr>
        <p:txBody>
          <a:bodyPr/>
          <a:lstStyle/>
          <a:p>
            <a:endParaRPr lang="en-NG"/>
          </a:p>
        </p:txBody>
      </p:sp>
      <p:sp>
        <p:nvSpPr>
          <p:cNvPr id="11" name="Text 9"/>
          <p:cNvSpPr/>
          <p:nvPr/>
        </p:nvSpPr>
        <p:spPr>
          <a:xfrm>
            <a:off x="1188720" y="292608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Days 31-60: networking (AWS user groups, LinkedIn engagement), continue applying, mock interviews weekly</a:t>
            </a:r>
            <a:endParaRPr lang="en-US" sz="1400" dirty="0"/>
          </a:p>
        </p:txBody>
      </p:sp>
      <p:sp>
        <p:nvSpPr>
          <p:cNvPr id="12" name="Shape 10"/>
          <p:cNvSpPr/>
          <p:nvPr/>
        </p:nvSpPr>
        <p:spPr>
          <a:xfrm>
            <a:off x="502920" y="3886200"/>
            <a:ext cx="11183112" cy="822960"/>
          </a:xfrm>
          <a:prstGeom prst="roundRect">
            <a:avLst>
              <a:gd name="adj" fmla="val 6667"/>
            </a:avLst>
          </a:prstGeom>
          <a:solidFill>
            <a:srgbClr val="F7F9FC"/>
          </a:solidFill>
          <a:ln w="9525">
            <a:solidFill>
              <a:srgbClr val="E4E9F0"/>
            </a:solidFill>
            <a:prstDash val="solid"/>
          </a:ln>
        </p:spPr>
        <p:txBody>
          <a:bodyPr/>
          <a:lstStyle/>
          <a:p>
            <a:endParaRPr lang="en-NG"/>
          </a:p>
        </p:txBody>
      </p:sp>
      <p:sp>
        <p:nvSpPr>
          <p:cNvPr id="13" name="Shape 11"/>
          <p:cNvSpPr/>
          <p:nvPr/>
        </p:nvSpPr>
        <p:spPr>
          <a:xfrm>
            <a:off x="731520" y="4160520"/>
            <a:ext cx="274320" cy="274320"/>
          </a:xfrm>
          <a:prstGeom prst="roundRect">
            <a:avLst>
              <a:gd name="adj" fmla="val 50000"/>
            </a:avLst>
          </a:prstGeom>
          <a:solidFill>
            <a:srgbClr val="1B2A4A"/>
          </a:solidFill>
          <a:ln/>
        </p:spPr>
        <p:txBody>
          <a:bodyPr/>
          <a:lstStyle/>
          <a:p>
            <a:endParaRPr lang="en-NG"/>
          </a:p>
        </p:txBody>
      </p:sp>
      <p:sp>
        <p:nvSpPr>
          <p:cNvPr id="14" name="Text 12"/>
          <p:cNvSpPr/>
          <p:nvPr/>
        </p:nvSpPr>
        <p:spPr>
          <a:xfrm>
            <a:off x="1188720" y="3886200"/>
            <a:ext cx="10268712" cy="822960"/>
          </a:xfrm>
          <a:prstGeom prst="rect">
            <a:avLst/>
          </a:prstGeom>
          <a:noFill/>
          <a:ln/>
        </p:spPr>
        <p:txBody>
          <a:bodyPr wrap="square" rtlCol="0" anchor="ctr"/>
          <a:lstStyle/>
          <a:p>
            <a:pPr marL="0" indent="0">
              <a:lnSpc>
                <a:spcPct val="110000"/>
              </a:lnSpc>
              <a:buNone/>
            </a:pPr>
            <a:r>
              <a:rPr lang="en-US" sz="1400" dirty="0">
                <a:solidFill>
                  <a:srgbClr val="16202B"/>
                </a:solidFill>
                <a:latin typeface="Calibri" pitchFamily="34" charset="0"/>
                <a:ea typeface="Calibri" pitchFamily="34" charset="-122"/>
                <a:cs typeface="Calibri" pitchFamily="34" charset="-120"/>
              </a:rPr>
              <a:t>Days 61-90: interview loop management, salary negotiation basics, keep building (a second project signals momentum)</a:t>
            </a:r>
            <a:endParaRPr lang="en-US" sz="1400" dirty="0"/>
          </a:p>
        </p:txBody>
      </p:sp>
      <p:sp>
        <p:nvSpPr>
          <p:cNvPr id="15" name="Text 1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 Capstone Defense, Resume, Portfolio &amp; Mock Interviews</a:t>
            </a:r>
            <a:endParaRPr lang="en-US" sz="900" dirty="0"/>
          </a:p>
        </p:txBody>
      </p:sp>
      <p:sp>
        <p:nvSpPr>
          <p:cNvPr id="16" name="Text 1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D8348"/>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502920" y="868680"/>
            <a:ext cx="11183112" cy="640080"/>
          </a:xfrm>
          <a:prstGeom prst="rect">
            <a:avLst/>
          </a:prstGeom>
          <a:noFill/>
          <a:ln/>
        </p:spPr>
        <p:txBody>
          <a:bodyPr wrap="square"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Capstone Part 3: Defense Day &amp; Career Sprint</a:t>
            </a:r>
            <a:endParaRPr lang="en-US" sz="2400" dirty="0"/>
          </a:p>
        </p:txBody>
      </p:sp>
      <p:sp>
        <p:nvSpPr>
          <p:cNvPr id="5" name="Shape 3"/>
          <p:cNvSpPr/>
          <p:nvPr/>
        </p:nvSpPr>
        <p:spPr>
          <a:xfrm>
            <a:off x="502920" y="1508760"/>
            <a:ext cx="1554480" cy="365760"/>
          </a:xfrm>
          <a:prstGeom prst="roundRect">
            <a:avLst>
              <a:gd name="adj" fmla="val 50000"/>
            </a:avLst>
          </a:prstGeom>
          <a:solidFill>
            <a:srgbClr val="232F3E"/>
          </a:solidFill>
          <a:ln/>
        </p:spPr>
        <p:txBody>
          <a:bodyPr/>
          <a:lstStyle/>
          <a:p>
            <a:endParaRPr lang="en-NG"/>
          </a:p>
        </p:txBody>
      </p:sp>
      <p:sp>
        <p:nvSpPr>
          <p:cNvPr id="6" name="Text 4"/>
          <p:cNvSpPr/>
          <p:nvPr/>
        </p:nvSpPr>
        <p:spPr>
          <a:xfrm>
            <a:off x="502920" y="1508760"/>
            <a:ext cx="155448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120 minutes</a:t>
            </a:r>
            <a:endParaRPr lang="en-US" sz="1050" dirty="0"/>
          </a:p>
        </p:txBody>
      </p:sp>
      <p:sp>
        <p:nvSpPr>
          <p:cNvPr id="7" name="Shape 5"/>
          <p:cNvSpPr/>
          <p:nvPr/>
        </p:nvSpPr>
        <p:spPr>
          <a:xfrm>
            <a:off x="2194560" y="1508760"/>
            <a:ext cx="1737360" cy="365760"/>
          </a:xfrm>
          <a:prstGeom prst="roundRect">
            <a:avLst>
              <a:gd name="adj" fmla="val 50000"/>
            </a:avLst>
          </a:prstGeom>
          <a:solidFill>
            <a:srgbClr val="1D8348"/>
          </a:solidFill>
          <a:ln/>
        </p:spPr>
        <p:txBody>
          <a:bodyPr/>
          <a:lstStyle/>
          <a:p>
            <a:endParaRPr lang="en-NG"/>
          </a:p>
        </p:txBody>
      </p:sp>
      <p:sp>
        <p:nvSpPr>
          <p:cNvPr id="8" name="Text 6"/>
          <p:cNvSpPr/>
          <p:nvPr/>
        </p:nvSpPr>
        <p:spPr>
          <a:xfrm>
            <a:off x="2194560" y="1508760"/>
            <a:ext cx="17373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FREE TIER</a:t>
            </a:r>
            <a:endParaRPr lang="en-US" sz="1050" dirty="0"/>
          </a:p>
        </p:txBody>
      </p:sp>
      <p:sp>
        <p:nvSpPr>
          <p:cNvPr id="9" name="Text 7"/>
          <p:cNvSpPr/>
          <p:nvPr/>
        </p:nvSpPr>
        <p:spPr>
          <a:xfrm>
            <a:off x="502920" y="2011680"/>
            <a:ext cx="11183112" cy="502920"/>
          </a:xfrm>
          <a:prstGeom prst="rect">
            <a:avLst/>
          </a:prstGeom>
          <a:noFill/>
          <a:ln/>
        </p:spPr>
        <p:txBody>
          <a:bodyPr wrap="square" rtlCol="0" anchor="ctr"/>
          <a:lstStyle/>
          <a:p>
            <a:pPr marL="0" indent="0">
              <a:lnSpc>
                <a:spcPct val="110000"/>
              </a:lnSpc>
              <a:buNone/>
            </a:pPr>
            <a:r>
              <a:rPr lang="en-US" sz="1250" i="1" dirty="0">
                <a:solidFill>
                  <a:srgbClr val="5A6B7A"/>
                </a:solidFill>
                <a:latin typeface="Calibri" pitchFamily="34" charset="0"/>
                <a:ea typeface="Calibri" pitchFamily="34" charset="-122"/>
                <a:cs typeface="Calibri" pitchFamily="34" charset="-120"/>
              </a:rPr>
              <a:t>Simulate the exact final stretch of a real job search sprint — present, get grilled, and leave with paperwork ready to submit.</a:t>
            </a:r>
            <a:endParaRPr lang="en-US" sz="1250" dirty="0"/>
          </a:p>
        </p:txBody>
      </p:sp>
      <p:sp>
        <p:nvSpPr>
          <p:cNvPr id="10" name="Shape 8"/>
          <p:cNvSpPr/>
          <p:nvPr/>
        </p:nvSpPr>
        <p:spPr>
          <a:xfrm>
            <a:off x="502920" y="2679192"/>
            <a:ext cx="256032" cy="256032"/>
          </a:xfrm>
          <a:prstGeom prst="roundRect">
            <a:avLst>
              <a:gd name="adj" fmla="val 17857"/>
            </a:avLst>
          </a:prstGeom>
          <a:solidFill>
            <a:srgbClr val="1D8348"/>
          </a:solidFill>
          <a:ln/>
        </p:spPr>
        <p:txBody>
          <a:bodyPr/>
          <a:lstStyle/>
          <a:p>
            <a:endParaRPr lang="en-NG"/>
          </a:p>
        </p:txBody>
      </p:sp>
      <p:sp>
        <p:nvSpPr>
          <p:cNvPr id="11" name="Text 9"/>
          <p:cNvSpPr/>
          <p:nvPr/>
        </p:nvSpPr>
        <p:spPr>
          <a:xfrm>
            <a:off x="502920"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68680"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5-minute individual presentation of your capstone architecture to the group/instructor, sharing your dashboard and architecture diagram live</a:t>
            </a:r>
            <a:endParaRPr lang="en-US" sz="980" dirty="0"/>
          </a:p>
        </p:txBody>
      </p:sp>
      <p:sp>
        <p:nvSpPr>
          <p:cNvPr id="13" name="Shape 11"/>
          <p:cNvSpPr/>
          <p:nvPr/>
        </p:nvSpPr>
        <p:spPr>
          <a:xfrm>
            <a:off x="6277356" y="2679192"/>
            <a:ext cx="256032" cy="256032"/>
          </a:xfrm>
          <a:prstGeom prst="roundRect">
            <a:avLst>
              <a:gd name="adj" fmla="val 17857"/>
            </a:avLst>
          </a:prstGeom>
          <a:solidFill>
            <a:srgbClr val="1D8348"/>
          </a:solidFill>
          <a:ln/>
        </p:spPr>
        <p:txBody>
          <a:bodyPr/>
          <a:lstStyle/>
          <a:p>
            <a:endParaRPr lang="en-NG"/>
          </a:p>
        </p:txBody>
      </p:sp>
      <p:sp>
        <p:nvSpPr>
          <p:cNvPr id="14" name="Text 12"/>
          <p:cNvSpPr/>
          <p:nvPr/>
        </p:nvSpPr>
        <p:spPr>
          <a:xfrm>
            <a:off x="6277356" y="2679192"/>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6643116" y="2651760"/>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Field 3 unscripted questions from the instructor simulating a technical interview panel (e.g., 'how would this handle 10x traffic', 'what happens if the AZ hosting your RDS goes down', 'walk me through what happens when a user hits your ALB')</a:t>
            </a:r>
            <a:endParaRPr lang="en-US" sz="980" dirty="0"/>
          </a:p>
        </p:txBody>
      </p:sp>
      <p:sp>
        <p:nvSpPr>
          <p:cNvPr id="16" name="Shape 14"/>
          <p:cNvSpPr/>
          <p:nvPr/>
        </p:nvSpPr>
        <p:spPr>
          <a:xfrm>
            <a:off x="502920" y="3246120"/>
            <a:ext cx="256032" cy="256032"/>
          </a:xfrm>
          <a:prstGeom prst="roundRect">
            <a:avLst>
              <a:gd name="adj" fmla="val 17857"/>
            </a:avLst>
          </a:prstGeom>
          <a:solidFill>
            <a:srgbClr val="1D8348"/>
          </a:solidFill>
          <a:ln/>
        </p:spPr>
        <p:txBody>
          <a:bodyPr/>
          <a:lstStyle/>
          <a:p>
            <a:endParaRPr lang="en-NG"/>
          </a:p>
        </p:txBody>
      </p:sp>
      <p:sp>
        <p:nvSpPr>
          <p:cNvPr id="17" name="Text 15"/>
          <p:cNvSpPr/>
          <p:nvPr/>
        </p:nvSpPr>
        <p:spPr>
          <a:xfrm>
            <a:off x="502920"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68680"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Finalize your resume using the AWS Cloud Engineer-focused template provided, incorporating your capstone as the headline project</a:t>
            </a:r>
            <a:endParaRPr lang="en-US" sz="980" dirty="0"/>
          </a:p>
        </p:txBody>
      </p:sp>
      <p:sp>
        <p:nvSpPr>
          <p:cNvPr id="19" name="Shape 17"/>
          <p:cNvSpPr/>
          <p:nvPr/>
        </p:nvSpPr>
        <p:spPr>
          <a:xfrm>
            <a:off x="6277356" y="3246120"/>
            <a:ext cx="256032" cy="256032"/>
          </a:xfrm>
          <a:prstGeom prst="roundRect">
            <a:avLst>
              <a:gd name="adj" fmla="val 17857"/>
            </a:avLst>
          </a:prstGeom>
          <a:solidFill>
            <a:srgbClr val="1D8348"/>
          </a:solidFill>
          <a:ln/>
        </p:spPr>
        <p:txBody>
          <a:bodyPr/>
          <a:lstStyle/>
          <a:p>
            <a:endParaRPr lang="en-NG"/>
          </a:p>
        </p:txBody>
      </p:sp>
      <p:sp>
        <p:nvSpPr>
          <p:cNvPr id="20" name="Text 18"/>
          <p:cNvSpPr/>
          <p:nvPr/>
        </p:nvSpPr>
        <p:spPr>
          <a:xfrm>
            <a:off x="6277356" y="3246120"/>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643116" y="3218688"/>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Update your LinkedIn headline and About section with Cloud Engineer/AWS keywords and a link to your GitHub portfolio</a:t>
            </a:r>
            <a:endParaRPr lang="en-US" sz="980" dirty="0"/>
          </a:p>
        </p:txBody>
      </p:sp>
      <p:sp>
        <p:nvSpPr>
          <p:cNvPr id="22" name="Shape 20"/>
          <p:cNvSpPr/>
          <p:nvPr/>
        </p:nvSpPr>
        <p:spPr>
          <a:xfrm>
            <a:off x="502920" y="3813048"/>
            <a:ext cx="256032" cy="256032"/>
          </a:xfrm>
          <a:prstGeom prst="roundRect">
            <a:avLst>
              <a:gd name="adj" fmla="val 17857"/>
            </a:avLst>
          </a:prstGeom>
          <a:solidFill>
            <a:srgbClr val="1D8348"/>
          </a:solidFill>
          <a:ln/>
        </p:spPr>
        <p:txBody>
          <a:bodyPr/>
          <a:lstStyle/>
          <a:p>
            <a:endParaRPr lang="en-NG"/>
          </a:p>
        </p:txBody>
      </p:sp>
      <p:sp>
        <p:nvSpPr>
          <p:cNvPr id="23" name="Text 21"/>
          <p:cNvSpPr/>
          <p:nvPr/>
        </p:nvSpPr>
        <p:spPr>
          <a:xfrm>
            <a:off x="502920"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68680"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Complete a full 45-minute mock technical interview in pairs, covering IAM, networking, and a system-design question, then swap feedback</a:t>
            </a:r>
            <a:endParaRPr lang="en-US" sz="980" dirty="0"/>
          </a:p>
        </p:txBody>
      </p:sp>
      <p:sp>
        <p:nvSpPr>
          <p:cNvPr id="25" name="Shape 23"/>
          <p:cNvSpPr/>
          <p:nvPr/>
        </p:nvSpPr>
        <p:spPr>
          <a:xfrm>
            <a:off x="6277356" y="3813048"/>
            <a:ext cx="256032" cy="256032"/>
          </a:xfrm>
          <a:prstGeom prst="roundRect">
            <a:avLst>
              <a:gd name="adj" fmla="val 17857"/>
            </a:avLst>
          </a:prstGeom>
          <a:solidFill>
            <a:srgbClr val="1D8348"/>
          </a:solidFill>
          <a:ln/>
        </p:spPr>
        <p:txBody>
          <a:bodyPr/>
          <a:lstStyle/>
          <a:p>
            <a:endParaRPr lang="en-NG"/>
          </a:p>
        </p:txBody>
      </p:sp>
      <p:sp>
        <p:nvSpPr>
          <p:cNvPr id="26" name="Text 24"/>
          <p:cNvSpPr/>
          <p:nvPr/>
        </p:nvSpPr>
        <p:spPr>
          <a:xfrm>
            <a:off x="6277356" y="3813048"/>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6643116" y="3785616"/>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Write your personal 30-60-90 day job search plan using the framework provided</a:t>
            </a:r>
            <a:endParaRPr lang="en-US" sz="980" dirty="0"/>
          </a:p>
        </p:txBody>
      </p:sp>
      <p:sp>
        <p:nvSpPr>
          <p:cNvPr id="28" name="Shape 26"/>
          <p:cNvSpPr/>
          <p:nvPr/>
        </p:nvSpPr>
        <p:spPr>
          <a:xfrm>
            <a:off x="502920" y="4379976"/>
            <a:ext cx="256032" cy="256032"/>
          </a:xfrm>
          <a:prstGeom prst="roundRect">
            <a:avLst>
              <a:gd name="adj" fmla="val 17857"/>
            </a:avLst>
          </a:prstGeom>
          <a:solidFill>
            <a:srgbClr val="1D8348"/>
          </a:solidFill>
          <a:ln/>
        </p:spPr>
        <p:txBody>
          <a:bodyPr/>
          <a:lstStyle/>
          <a:p>
            <a:endParaRPr lang="en-NG"/>
          </a:p>
        </p:txBody>
      </p:sp>
      <p:sp>
        <p:nvSpPr>
          <p:cNvPr id="29" name="Text 27"/>
          <p:cNvSpPr/>
          <p:nvPr/>
        </p:nvSpPr>
        <p:spPr>
          <a:xfrm>
            <a:off x="502920" y="4379976"/>
            <a:ext cx="256032"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868680" y="4352544"/>
            <a:ext cx="5042916" cy="566928"/>
          </a:xfrm>
          <a:prstGeom prst="rect">
            <a:avLst/>
          </a:prstGeom>
          <a:noFill/>
          <a:ln/>
        </p:spPr>
        <p:txBody>
          <a:bodyPr wrap="square" rtlCol="0" anchor="t"/>
          <a:lstStyle/>
          <a:p>
            <a:pPr marL="0" indent="0">
              <a:lnSpc>
                <a:spcPct val="100000"/>
              </a:lnSpc>
              <a:buNone/>
            </a:pPr>
            <a:r>
              <a:rPr lang="en-US" sz="980" dirty="0">
                <a:solidFill>
                  <a:srgbClr val="16202B"/>
                </a:solidFill>
                <a:latin typeface="Calibri" pitchFamily="34" charset="0"/>
                <a:ea typeface="Calibri" pitchFamily="34" charset="-122"/>
                <a:cs typeface="Calibri" pitchFamily="34" charset="-120"/>
              </a:rPr>
              <a:t>Run 'terraform destroy' across every remaining lab project and confirm in the console that zero billable AWS resources remain</a:t>
            </a:r>
            <a:endParaRPr lang="en-US" sz="980" dirty="0"/>
          </a:p>
        </p:txBody>
      </p:sp>
      <p:sp>
        <p:nvSpPr>
          <p:cNvPr id="31" name="Text 2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 Capstone Defense, Resume, Portfolio &amp; Mock Interviews</a:t>
            </a:r>
            <a:endParaRPr lang="en-US" sz="900" dirty="0"/>
          </a:p>
        </p:txBody>
      </p:sp>
      <p:sp>
        <p:nvSpPr>
          <p:cNvPr id="32" name="Text 3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C0392B"/>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INSTRUCTOR NOTES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Common Mistakes &amp; Interview Traps</a:t>
            </a:r>
            <a:endParaRPr lang="en-US" sz="3000" dirty="0"/>
          </a:p>
        </p:txBody>
      </p:sp>
      <p:sp>
        <p:nvSpPr>
          <p:cNvPr id="5" name="Shape 3"/>
          <p:cNvSpPr/>
          <p:nvPr/>
        </p:nvSpPr>
        <p:spPr>
          <a:xfrm>
            <a:off x="502920" y="192024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6" name="Shape 4"/>
          <p:cNvSpPr/>
          <p:nvPr/>
        </p:nvSpPr>
        <p:spPr>
          <a:xfrm>
            <a:off x="667512" y="2244852"/>
            <a:ext cx="292608" cy="292608"/>
          </a:xfrm>
          <a:prstGeom prst="roundRect">
            <a:avLst>
              <a:gd name="adj" fmla="val 50000"/>
            </a:avLst>
          </a:prstGeom>
          <a:solidFill>
            <a:srgbClr val="C0392B"/>
          </a:solidFill>
          <a:ln/>
        </p:spPr>
        <p:txBody>
          <a:bodyPr/>
          <a:lstStyle/>
          <a:p>
            <a:endParaRPr lang="en-NG"/>
          </a:p>
        </p:txBody>
      </p:sp>
      <p:sp>
        <p:nvSpPr>
          <p:cNvPr id="7" name="Text 5"/>
          <p:cNvSpPr/>
          <p:nvPr/>
        </p:nvSpPr>
        <p:spPr>
          <a:xfrm>
            <a:off x="667512" y="224485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43000" y="197510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Listing every AWS service you've ever touched on your resume without tying any of them to an outcome — 'used EC2, S3, IAM' is far weaker than a single quantified accomplishment bullet built around your capstone.</a:t>
            </a:r>
            <a:endParaRPr lang="en-US" sz="1200" dirty="0"/>
          </a:p>
        </p:txBody>
      </p:sp>
      <p:sp>
        <p:nvSpPr>
          <p:cNvPr id="9" name="Shape 7"/>
          <p:cNvSpPr/>
          <p:nvPr/>
        </p:nvSpPr>
        <p:spPr>
          <a:xfrm>
            <a:off x="502920" y="297180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0" name="Shape 8"/>
          <p:cNvSpPr/>
          <p:nvPr/>
        </p:nvSpPr>
        <p:spPr>
          <a:xfrm>
            <a:off x="667512" y="3296412"/>
            <a:ext cx="292608" cy="292608"/>
          </a:xfrm>
          <a:prstGeom prst="roundRect">
            <a:avLst>
              <a:gd name="adj" fmla="val 50000"/>
            </a:avLst>
          </a:prstGeom>
          <a:solidFill>
            <a:srgbClr val="C0392B"/>
          </a:solidFill>
          <a:ln/>
        </p:spPr>
        <p:txBody>
          <a:bodyPr/>
          <a:lstStyle/>
          <a:p>
            <a:endParaRPr lang="en-NG"/>
          </a:p>
        </p:txBody>
      </p:sp>
      <p:sp>
        <p:nvSpPr>
          <p:cNvPr id="11" name="Text 9"/>
          <p:cNvSpPr/>
          <p:nvPr/>
        </p:nvSpPr>
        <p:spPr>
          <a:xfrm>
            <a:off x="667512" y="329641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2666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Treating the mock interview as low-stakes and under-preparing for it — the entire value of a mock interview comes from treating it seriously enough to expose real gaps before a real interview does.</a:t>
            </a:r>
            <a:endParaRPr lang="en-US" sz="1200" dirty="0"/>
          </a:p>
        </p:txBody>
      </p:sp>
      <p:sp>
        <p:nvSpPr>
          <p:cNvPr id="13" name="Shape 11"/>
          <p:cNvSpPr/>
          <p:nvPr/>
        </p:nvSpPr>
        <p:spPr>
          <a:xfrm>
            <a:off x="502920" y="402336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4" name="Shape 12"/>
          <p:cNvSpPr/>
          <p:nvPr/>
        </p:nvSpPr>
        <p:spPr>
          <a:xfrm>
            <a:off x="667512" y="4347972"/>
            <a:ext cx="292608" cy="292608"/>
          </a:xfrm>
          <a:prstGeom prst="roundRect">
            <a:avLst>
              <a:gd name="adj" fmla="val 50000"/>
            </a:avLst>
          </a:prstGeom>
          <a:solidFill>
            <a:srgbClr val="C0392B"/>
          </a:solidFill>
          <a:ln/>
        </p:spPr>
        <p:txBody>
          <a:bodyPr/>
          <a:lstStyle/>
          <a:p>
            <a:endParaRPr lang="en-NG"/>
          </a:p>
        </p:txBody>
      </p:sp>
      <p:sp>
        <p:nvSpPr>
          <p:cNvPr id="15" name="Text 13"/>
          <p:cNvSpPr/>
          <p:nvPr/>
        </p:nvSpPr>
        <p:spPr>
          <a:xfrm>
            <a:off x="667512" y="434797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143000" y="407822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Forgetting to actually run terraform destroy across every lab project at the end — leaving even one forgotten Elastic IP, NAT Gateway, or RDS instance running can produce a surprising bill weeks after the bootcamp ends, when nobody's watching for it.</a:t>
            </a:r>
            <a:endParaRPr lang="en-US" sz="1200" dirty="0"/>
          </a:p>
        </p:txBody>
      </p:sp>
      <p:sp>
        <p:nvSpPr>
          <p:cNvPr id="17" name="Shape 15"/>
          <p:cNvSpPr/>
          <p:nvPr/>
        </p:nvSpPr>
        <p:spPr>
          <a:xfrm>
            <a:off x="502920" y="5074920"/>
            <a:ext cx="11183112" cy="941832"/>
          </a:xfrm>
          <a:prstGeom prst="roundRect">
            <a:avLst>
              <a:gd name="adj" fmla="val 4854"/>
            </a:avLst>
          </a:prstGeom>
          <a:solidFill>
            <a:srgbClr val="F7F9FC"/>
          </a:solidFill>
          <a:ln w="12700">
            <a:solidFill>
              <a:srgbClr val="F0D5D0"/>
            </a:solidFill>
            <a:prstDash val="solid"/>
          </a:ln>
        </p:spPr>
        <p:txBody>
          <a:bodyPr/>
          <a:lstStyle/>
          <a:p>
            <a:endParaRPr lang="en-NG"/>
          </a:p>
        </p:txBody>
      </p:sp>
      <p:sp>
        <p:nvSpPr>
          <p:cNvPr id="18" name="Shape 16"/>
          <p:cNvSpPr/>
          <p:nvPr/>
        </p:nvSpPr>
        <p:spPr>
          <a:xfrm>
            <a:off x="667512" y="5399532"/>
            <a:ext cx="292608" cy="292608"/>
          </a:xfrm>
          <a:prstGeom prst="roundRect">
            <a:avLst>
              <a:gd name="adj" fmla="val 50000"/>
            </a:avLst>
          </a:prstGeom>
          <a:solidFill>
            <a:srgbClr val="C0392B"/>
          </a:solidFill>
          <a:ln/>
        </p:spPr>
        <p:txBody>
          <a:bodyPr/>
          <a:lstStyle/>
          <a:p>
            <a:endParaRPr lang="en-NG"/>
          </a:p>
        </p:txBody>
      </p:sp>
      <p:sp>
        <p:nvSpPr>
          <p:cNvPr id="19" name="Text 17"/>
          <p:cNvSpPr/>
          <p:nvPr/>
        </p:nvSpPr>
        <p:spPr>
          <a:xfrm>
            <a:off x="667512" y="5399532"/>
            <a:ext cx="292608" cy="2926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143000" y="5129784"/>
            <a:ext cx="10268712" cy="832104"/>
          </a:xfrm>
          <a:prstGeom prst="rect">
            <a:avLst/>
          </a:prstGeom>
          <a:noFill/>
          <a:ln/>
        </p:spPr>
        <p:txBody>
          <a:bodyPr wrap="square" rtlCol="0" anchor="ctr"/>
          <a:lstStyle/>
          <a:p>
            <a:pPr marL="0" indent="0">
              <a:lnSpc>
                <a:spcPct val="110000"/>
              </a:lnSpc>
              <a:buNone/>
            </a:pPr>
            <a:r>
              <a:rPr lang="en-US" sz="1200" dirty="0">
                <a:solidFill>
                  <a:srgbClr val="16202B"/>
                </a:solidFill>
                <a:latin typeface="Calibri" pitchFamily="34" charset="0"/>
                <a:ea typeface="Calibri" pitchFamily="34" charset="-122"/>
                <a:cs typeface="Calibri" pitchFamily="34" charset="-120"/>
              </a:rPr>
              <a:t>Writing a vague 30-60-90 day plan ('apply to jobs, study more') instead of specific numbers and named certifications — vague plans are far less likely to be followed than concrete ones with numbers attached.</a:t>
            </a:r>
            <a:endParaRPr lang="en-US" sz="1200" dirty="0"/>
          </a:p>
        </p:txBody>
      </p:sp>
      <p:sp>
        <p:nvSpPr>
          <p:cNvPr id="21" name="Text 19"/>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 Capstone Defense, Resume, Portfolio &amp; Mock Interviews</a:t>
            </a:r>
            <a:endParaRPr lang="en-US" sz="900" dirty="0"/>
          </a:p>
        </p:txBody>
      </p:sp>
      <p:sp>
        <p:nvSpPr>
          <p:cNvPr id="22" name="Text 20"/>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FF9900"/>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PORTFOLIO CHECKPOINT</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Session Deliverable</a:t>
            </a:r>
            <a:endParaRPr lang="en-US" sz="3000" dirty="0"/>
          </a:p>
        </p:txBody>
      </p:sp>
      <p:sp>
        <p:nvSpPr>
          <p:cNvPr id="5" name="Shape 3"/>
          <p:cNvSpPr/>
          <p:nvPr/>
        </p:nvSpPr>
        <p:spPr>
          <a:xfrm>
            <a:off x="502920" y="2011680"/>
            <a:ext cx="11183112" cy="1828800"/>
          </a:xfrm>
          <a:prstGeom prst="roundRect">
            <a:avLst>
              <a:gd name="adj" fmla="val 4000"/>
            </a:avLst>
          </a:prstGeom>
          <a:solidFill>
            <a:srgbClr val="F7F9FC"/>
          </a:solidFill>
          <a:ln w="19050">
            <a:solidFill>
              <a:srgbClr val="1B2A4A"/>
            </a:solidFill>
            <a:prstDash val="solid"/>
          </a:ln>
        </p:spPr>
        <p:txBody>
          <a:bodyPr/>
          <a:lstStyle/>
          <a:p>
            <a:endParaRPr lang="en-NG"/>
          </a:p>
        </p:txBody>
      </p:sp>
      <p:sp>
        <p:nvSpPr>
          <p:cNvPr id="6" name="Text 4"/>
          <p:cNvSpPr/>
          <p:nvPr/>
        </p:nvSpPr>
        <p:spPr>
          <a:xfrm>
            <a:off x="822960" y="2331720"/>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874520" y="2194560"/>
            <a:ext cx="9445752" cy="1463040"/>
          </a:xfrm>
          <a:prstGeom prst="rect">
            <a:avLst/>
          </a:prstGeom>
          <a:noFill/>
          <a:ln/>
        </p:spPr>
        <p:txBody>
          <a:bodyPr wrap="square" rtlCol="0" anchor="ctr"/>
          <a:lstStyle/>
          <a:p>
            <a:pPr marL="0" indent="0">
              <a:lnSpc>
                <a:spcPct val="125000"/>
              </a:lnSpc>
              <a:buNone/>
            </a:pPr>
            <a:r>
              <a:rPr lang="en-US" sz="1500" dirty="0">
                <a:solidFill>
                  <a:srgbClr val="16202B"/>
                </a:solidFill>
                <a:latin typeface="Calibri" pitchFamily="34" charset="0"/>
                <a:ea typeface="Calibri" pitchFamily="34" charset="-122"/>
                <a:cs typeface="Calibri" pitchFamily="34" charset="-120"/>
              </a:rPr>
              <a:t>Finalized resume (PDF), LinkedIn profile URL, your written 30-60-90 day plan, and confirmation screenshot that all billable AWS resources have been terminated/deleted.</a:t>
            </a:r>
            <a:endParaRPr lang="en-US" sz="1500" dirty="0"/>
          </a:p>
        </p:txBody>
      </p:sp>
      <p:sp>
        <p:nvSpPr>
          <p:cNvPr id="8" name="Text 6"/>
          <p:cNvSpPr/>
          <p:nvPr/>
        </p:nvSpPr>
        <p:spPr>
          <a:xfrm>
            <a:off x="502920" y="4206240"/>
            <a:ext cx="11183112" cy="365760"/>
          </a:xfrm>
          <a:prstGeom prst="rect">
            <a:avLst/>
          </a:prstGeom>
          <a:noFill/>
          <a:ln/>
        </p:spPr>
        <p:txBody>
          <a:bodyPr wrap="square" rtlCol="0" anchor="ctr"/>
          <a:lstStyle/>
          <a:p>
            <a:pPr marL="0" indent="0">
              <a:buNone/>
            </a:pPr>
            <a:r>
              <a:rPr lang="en-US" sz="1200" b="1" kern="0" spc="100" dirty="0">
                <a:solidFill>
                  <a:srgbClr val="1B2A4A"/>
                </a:solidFill>
                <a:latin typeface="Calibri" pitchFamily="34" charset="0"/>
                <a:ea typeface="Calibri" pitchFamily="34" charset="-122"/>
                <a:cs typeface="Calibri" pitchFamily="34" charset="-120"/>
              </a:rPr>
              <a:t>WHY THIS MATTERS FOR YOUR JOB SEARCH</a:t>
            </a:r>
            <a:endParaRPr lang="en-US" sz="1200" dirty="0"/>
          </a:p>
        </p:txBody>
      </p:sp>
      <p:sp>
        <p:nvSpPr>
          <p:cNvPr id="9" name="Text 7"/>
          <p:cNvSpPr/>
          <p:nvPr/>
        </p:nvSpPr>
        <p:spPr>
          <a:xfrm>
            <a:off x="502920" y="4617720"/>
            <a:ext cx="11183112" cy="1097280"/>
          </a:xfrm>
          <a:prstGeom prst="rect">
            <a:avLst/>
          </a:prstGeom>
          <a:noFill/>
          <a:ln/>
        </p:spPr>
        <p:txBody>
          <a:bodyPr wrap="square" rtlCol="0" anchor="ctr"/>
          <a:lstStyle/>
          <a:p>
            <a:pPr marL="0" indent="0">
              <a:lnSpc>
                <a:spcPct val="125000"/>
              </a:lnSpc>
              <a:buNone/>
            </a:pPr>
            <a:r>
              <a:rPr lang="en-US" sz="1300" dirty="0">
                <a:solidFill>
                  <a:srgbClr val="5A6B7A"/>
                </a:solidFill>
                <a:latin typeface="Calibri" pitchFamily="34" charset="0"/>
                <a:ea typeface="Calibri" pitchFamily="34" charset="-122"/>
                <a:cs typeface="Calibri" pitchFamily="34" charset="-120"/>
              </a:rPr>
              <a:t>Save every deliverable in a dedicated GitHub repo or portfolio folder. By Week 6 this becomes the evidence base for your resume, your capstone defense, and your interview answers — hiring managers trust things they can see over things you say you know.</a:t>
            </a:r>
            <a:endParaRPr lang="en-US" sz="1300" dirty="0"/>
          </a:p>
        </p:txBody>
      </p:sp>
      <p:sp>
        <p:nvSpPr>
          <p:cNvPr id="10" name="Text 8"/>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Week 6 · Session 18: Capstone Defense, Resume, Portfolio &amp; Mock Interviews</a:t>
            </a:r>
            <a:endParaRPr lang="en-US" sz="900" dirty="0"/>
          </a:p>
        </p:txBody>
      </p:sp>
      <p:sp>
        <p:nvSpPr>
          <p:cNvPr id="11" name="Text 9"/>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CAREER OUTCOMES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Roles You're Now Qualified to Apply For</a:t>
            </a:r>
            <a:endParaRPr lang="en-US" sz="3000" dirty="0"/>
          </a:p>
        </p:txBody>
      </p:sp>
      <p:sp>
        <p:nvSpPr>
          <p:cNvPr id="5" name="Shape 3"/>
          <p:cNvSpPr/>
          <p:nvPr/>
        </p:nvSpPr>
        <p:spPr>
          <a:xfrm>
            <a:off x="502920" y="1920240"/>
            <a:ext cx="5394960" cy="1920240"/>
          </a:xfrm>
          <a:prstGeom prst="roundRect">
            <a:avLst>
              <a:gd name="adj" fmla="val 3810"/>
            </a:avLst>
          </a:prstGeom>
          <a:solidFill>
            <a:srgbClr val="F7F9FC"/>
          </a:solidFill>
          <a:ln w="12700">
            <a:solidFill>
              <a:srgbClr val="E4E9F0"/>
            </a:solidFill>
            <a:prstDash val="solid"/>
          </a:ln>
        </p:spPr>
        <p:txBody>
          <a:bodyPr/>
          <a:lstStyle/>
          <a:p>
            <a:endParaRPr lang="en-NG"/>
          </a:p>
        </p:txBody>
      </p:sp>
      <p:sp>
        <p:nvSpPr>
          <p:cNvPr id="6" name="Shape 4"/>
          <p:cNvSpPr/>
          <p:nvPr/>
        </p:nvSpPr>
        <p:spPr>
          <a:xfrm>
            <a:off x="731520" y="2148840"/>
            <a:ext cx="502920" cy="502920"/>
          </a:xfrm>
          <a:prstGeom prst="roundRect">
            <a:avLst>
              <a:gd name="adj" fmla="val 10909"/>
            </a:avLst>
          </a:prstGeom>
          <a:solidFill>
            <a:srgbClr val="FF9900"/>
          </a:solidFill>
          <a:ln/>
        </p:spPr>
        <p:txBody>
          <a:bodyPr/>
          <a:lstStyle/>
          <a:p>
            <a:endParaRPr lang="en-NG"/>
          </a:p>
        </p:txBody>
      </p:sp>
      <p:sp>
        <p:nvSpPr>
          <p:cNvPr id="7" name="Text 5"/>
          <p:cNvSpPr/>
          <p:nvPr/>
        </p:nvSpPr>
        <p:spPr>
          <a:xfrm>
            <a:off x="731520" y="2148840"/>
            <a:ext cx="502920" cy="502920"/>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8" name="Text 6"/>
          <p:cNvSpPr/>
          <p:nvPr/>
        </p:nvSpPr>
        <p:spPr>
          <a:xfrm>
            <a:off x="1417320" y="2121408"/>
            <a:ext cx="4297680" cy="45720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Cloud Support Engineer</a:t>
            </a:r>
            <a:endParaRPr lang="en-US" sz="1500" dirty="0"/>
          </a:p>
        </p:txBody>
      </p:sp>
      <p:sp>
        <p:nvSpPr>
          <p:cNvPr id="9" name="Text 7"/>
          <p:cNvSpPr/>
          <p:nvPr/>
        </p:nvSpPr>
        <p:spPr>
          <a:xfrm>
            <a:off x="1417320" y="2606040"/>
            <a:ext cx="4297680" cy="1097280"/>
          </a:xfrm>
          <a:prstGeom prst="rect">
            <a:avLst/>
          </a:prstGeom>
          <a:noFill/>
          <a:ln/>
        </p:spPr>
        <p:txBody>
          <a:bodyPr wrap="square" rtlCol="0" anchor="ctr"/>
          <a:lstStyle/>
          <a:p>
            <a:pPr marL="0" indent="0">
              <a:lnSpc>
                <a:spcPct val="120000"/>
              </a:lnSpc>
              <a:buNone/>
            </a:pPr>
            <a:r>
              <a:rPr lang="en-US" sz="1150" dirty="0">
                <a:solidFill>
                  <a:srgbClr val="5A6B7A"/>
                </a:solidFill>
                <a:latin typeface="Calibri" pitchFamily="34" charset="0"/>
                <a:ea typeface="Calibri" pitchFamily="34" charset="-122"/>
                <a:cs typeface="Calibri" pitchFamily="34" charset="-120"/>
              </a:rPr>
              <a:t>Tier 1/2 support, troubleshooting EC2/VPC/IAM issues, ticket-driven work</a:t>
            </a:r>
            <a:endParaRPr lang="en-US" sz="1150" dirty="0"/>
          </a:p>
        </p:txBody>
      </p:sp>
      <p:sp>
        <p:nvSpPr>
          <p:cNvPr id="10" name="Shape 8"/>
          <p:cNvSpPr/>
          <p:nvPr/>
        </p:nvSpPr>
        <p:spPr>
          <a:xfrm>
            <a:off x="6172200" y="1920240"/>
            <a:ext cx="5394960" cy="1920240"/>
          </a:xfrm>
          <a:prstGeom prst="roundRect">
            <a:avLst>
              <a:gd name="adj" fmla="val 3810"/>
            </a:avLst>
          </a:prstGeom>
          <a:solidFill>
            <a:srgbClr val="F7F9FC"/>
          </a:solidFill>
          <a:ln w="12700">
            <a:solidFill>
              <a:srgbClr val="E4E9F0"/>
            </a:solidFill>
            <a:prstDash val="solid"/>
          </a:ln>
        </p:spPr>
        <p:txBody>
          <a:bodyPr/>
          <a:lstStyle/>
          <a:p>
            <a:endParaRPr lang="en-NG"/>
          </a:p>
        </p:txBody>
      </p:sp>
      <p:sp>
        <p:nvSpPr>
          <p:cNvPr id="11" name="Shape 9"/>
          <p:cNvSpPr/>
          <p:nvPr/>
        </p:nvSpPr>
        <p:spPr>
          <a:xfrm>
            <a:off x="6400800" y="2148840"/>
            <a:ext cx="502920" cy="502920"/>
          </a:xfrm>
          <a:prstGeom prst="roundRect">
            <a:avLst>
              <a:gd name="adj" fmla="val 10909"/>
            </a:avLst>
          </a:prstGeom>
          <a:solidFill>
            <a:srgbClr val="FF9900"/>
          </a:solidFill>
          <a:ln/>
        </p:spPr>
        <p:txBody>
          <a:bodyPr/>
          <a:lstStyle/>
          <a:p>
            <a:endParaRPr lang="en-NG"/>
          </a:p>
        </p:txBody>
      </p:sp>
      <p:sp>
        <p:nvSpPr>
          <p:cNvPr id="12" name="Text 10"/>
          <p:cNvSpPr/>
          <p:nvPr/>
        </p:nvSpPr>
        <p:spPr>
          <a:xfrm>
            <a:off x="6400800" y="2148840"/>
            <a:ext cx="502920" cy="502920"/>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13" name="Text 11"/>
          <p:cNvSpPr/>
          <p:nvPr/>
        </p:nvSpPr>
        <p:spPr>
          <a:xfrm>
            <a:off x="7086600" y="2121408"/>
            <a:ext cx="4297680" cy="45720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Junior Cloud/SysOps Engineer</a:t>
            </a:r>
            <a:endParaRPr lang="en-US" sz="1500" dirty="0"/>
          </a:p>
        </p:txBody>
      </p:sp>
      <p:sp>
        <p:nvSpPr>
          <p:cNvPr id="14" name="Text 12"/>
          <p:cNvSpPr/>
          <p:nvPr/>
        </p:nvSpPr>
        <p:spPr>
          <a:xfrm>
            <a:off x="7086600" y="2606040"/>
            <a:ext cx="4297680" cy="1097280"/>
          </a:xfrm>
          <a:prstGeom prst="rect">
            <a:avLst/>
          </a:prstGeom>
          <a:noFill/>
          <a:ln/>
        </p:spPr>
        <p:txBody>
          <a:bodyPr wrap="square" rtlCol="0" anchor="ctr"/>
          <a:lstStyle/>
          <a:p>
            <a:pPr marL="0" indent="0">
              <a:lnSpc>
                <a:spcPct val="120000"/>
              </a:lnSpc>
              <a:buNone/>
            </a:pPr>
            <a:r>
              <a:rPr lang="en-US" sz="1150" dirty="0">
                <a:solidFill>
                  <a:srgbClr val="5A6B7A"/>
                </a:solidFill>
                <a:latin typeface="Calibri" pitchFamily="34" charset="0"/>
                <a:ea typeface="Calibri" pitchFamily="34" charset="-122"/>
                <a:cs typeface="Calibri" pitchFamily="34" charset="-120"/>
              </a:rPr>
              <a:t>Day-to-day AWS operations, monitoring, backups, patching, cost reviews</a:t>
            </a:r>
            <a:endParaRPr lang="en-US" sz="1150" dirty="0"/>
          </a:p>
        </p:txBody>
      </p:sp>
      <p:sp>
        <p:nvSpPr>
          <p:cNvPr id="15" name="Shape 13"/>
          <p:cNvSpPr/>
          <p:nvPr/>
        </p:nvSpPr>
        <p:spPr>
          <a:xfrm>
            <a:off x="502920" y="4069080"/>
            <a:ext cx="5394960" cy="1920240"/>
          </a:xfrm>
          <a:prstGeom prst="roundRect">
            <a:avLst>
              <a:gd name="adj" fmla="val 3810"/>
            </a:avLst>
          </a:prstGeom>
          <a:solidFill>
            <a:srgbClr val="F7F9FC"/>
          </a:solidFill>
          <a:ln w="12700">
            <a:solidFill>
              <a:srgbClr val="E4E9F0"/>
            </a:solidFill>
            <a:prstDash val="solid"/>
          </a:ln>
        </p:spPr>
        <p:txBody>
          <a:bodyPr/>
          <a:lstStyle/>
          <a:p>
            <a:endParaRPr lang="en-NG"/>
          </a:p>
        </p:txBody>
      </p:sp>
      <p:sp>
        <p:nvSpPr>
          <p:cNvPr id="16" name="Shape 14"/>
          <p:cNvSpPr/>
          <p:nvPr/>
        </p:nvSpPr>
        <p:spPr>
          <a:xfrm>
            <a:off x="731520" y="4297680"/>
            <a:ext cx="502920" cy="502920"/>
          </a:xfrm>
          <a:prstGeom prst="roundRect">
            <a:avLst>
              <a:gd name="adj" fmla="val 10909"/>
            </a:avLst>
          </a:prstGeom>
          <a:solidFill>
            <a:srgbClr val="FF9900"/>
          </a:solidFill>
          <a:ln/>
        </p:spPr>
        <p:txBody>
          <a:bodyPr/>
          <a:lstStyle/>
          <a:p>
            <a:endParaRPr lang="en-NG"/>
          </a:p>
        </p:txBody>
      </p:sp>
      <p:sp>
        <p:nvSpPr>
          <p:cNvPr id="17" name="Text 15"/>
          <p:cNvSpPr/>
          <p:nvPr/>
        </p:nvSpPr>
        <p:spPr>
          <a:xfrm>
            <a:off x="731520" y="4297680"/>
            <a:ext cx="502920" cy="502920"/>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18" name="Text 16"/>
          <p:cNvSpPr/>
          <p:nvPr/>
        </p:nvSpPr>
        <p:spPr>
          <a:xfrm>
            <a:off x="1417320" y="4270248"/>
            <a:ext cx="4297680" cy="45720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Associate Cloud Engineer</a:t>
            </a:r>
            <a:endParaRPr lang="en-US" sz="1500" dirty="0"/>
          </a:p>
        </p:txBody>
      </p:sp>
      <p:sp>
        <p:nvSpPr>
          <p:cNvPr id="19" name="Text 17"/>
          <p:cNvSpPr/>
          <p:nvPr/>
        </p:nvSpPr>
        <p:spPr>
          <a:xfrm>
            <a:off x="1417320" y="4754880"/>
            <a:ext cx="4297680" cy="1097280"/>
          </a:xfrm>
          <a:prstGeom prst="rect">
            <a:avLst/>
          </a:prstGeom>
          <a:noFill/>
          <a:ln/>
        </p:spPr>
        <p:txBody>
          <a:bodyPr wrap="square" rtlCol="0" anchor="ctr"/>
          <a:lstStyle/>
          <a:p>
            <a:pPr marL="0" indent="0">
              <a:lnSpc>
                <a:spcPct val="120000"/>
              </a:lnSpc>
              <a:buNone/>
            </a:pPr>
            <a:r>
              <a:rPr lang="en-US" sz="1150" dirty="0">
                <a:solidFill>
                  <a:srgbClr val="5A6B7A"/>
                </a:solidFill>
                <a:latin typeface="Calibri" pitchFamily="34" charset="0"/>
                <a:ea typeface="Calibri" pitchFamily="34" charset="-122"/>
                <a:cs typeface="Calibri" pitchFamily="34" charset="-120"/>
              </a:rPr>
              <a:t>Provisioning and maintaining infrastructure with Terraform — this bootcamp's Week 5 focus</a:t>
            </a:r>
            <a:endParaRPr lang="en-US" sz="1150" dirty="0"/>
          </a:p>
        </p:txBody>
      </p:sp>
      <p:sp>
        <p:nvSpPr>
          <p:cNvPr id="20" name="Shape 18"/>
          <p:cNvSpPr/>
          <p:nvPr/>
        </p:nvSpPr>
        <p:spPr>
          <a:xfrm>
            <a:off x="6172200" y="4069080"/>
            <a:ext cx="5394960" cy="1920240"/>
          </a:xfrm>
          <a:prstGeom prst="roundRect">
            <a:avLst>
              <a:gd name="adj" fmla="val 3810"/>
            </a:avLst>
          </a:prstGeom>
          <a:solidFill>
            <a:srgbClr val="F7F9FC"/>
          </a:solidFill>
          <a:ln w="12700">
            <a:solidFill>
              <a:srgbClr val="E4E9F0"/>
            </a:solidFill>
            <a:prstDash val="solid"/>
          </a:ln>
        </p:spPr>
        <p:txBody>
          <a:bodyPr/>
          <a:lstStyle/>
          <a:p>
            <a:endParaRPr lang="en-NG"/>
          </a:p>
        </p:txBody>
      </p:sp>
      <p:sp>
        <p:nvSpPr>
          <p:cNvPr id="21" name="Shape 19"/>
          <p:cNvSpPr/>
          <p:nvPr/>
        </p:nvSpPr>
        <p:spPr>
          <a:xfrm>
            <a:off x="6400800" y="4297680"/>
            <a:ext cx="502920" cy="502920"/>
          </a:xfrm>
          <a:prstGeom prst="roundRect">
            <a:avLst>
              <a:gd name="adj" fmla="val 10909"/>
            </a:avLst>
          </a:prstGeom>
          <a:solidFill>
            <a:srgbClr val="FF9900"/>
          </a:solidFill>
          <a:ln/>
        </p:spPr>
        <p:txBody>
          <a:bodyPr/>
          <a:lstStyle/>
          <a:p>
            <a:endParaRPr lang="en-NG"/>
          </a:p>
        </p:txBody>
      </p:sp>
      <p:sp>
        <p:nvSpPr>
          <p:cNvPr id="22" name="Text 20"/>
          <p:cNvSpPr/>
          <p:nvPr/>
        </p:nvSpPr>
        <p:spPr>
          <a:xfrm>
            <a:off x="6400800" y="4297680"/>
            <a:ext cx="502920" cy="502920"/>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23" name="Text 21"/>
          <p:cNvSpPr/>
          <p:nvPr/>
        </p:nvSpPr>
        <p:spPr>
          <a:xfrm>
            <a:off x="7086600" y="4270248"/>
            <a:ext cx="4297680" cy="457200"/>
          </a:xfrm>
          <a:prstGeom prst="rect">
            <a:avLst/>
          </a:prstGeom>
          <a:noFill/>
          <a:ln/>
        </p:spPr>
        <p:txBody>
          <a:bodyPr wrap="square"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Cloud Security Analyst (entry)</a:t>
            </a:r>
            <a:endParaRPr lang="en-US" sz="1500" dirty="0"/>
          </a:p>
        </p:txBody>
      </p:sp>
      <p:sp>
        <p:nvSpPr>
          <p:cNvPr id="24" name="Text 22"/>
          <p:cNvSpPr/>
          <p:nvPr/>
        </p:nvSpPr>
        <p:spPr>
          <a:xfrm>
            <a:off x="7086600" y="4754880"/>
            <a:ext cx="4297680" cy="1097280"/>
          </a:xfrm>
          <a:prstGeom prst="rect">
            <a:avLst/>
          </a:prstGeom>
          <a:noFill/>
          <a:ln/>
        </p:spPr>
        <p:txBody>
          <a:bodyPr wrap="square" rtlCol="0" anchor="ctr"/>
          <a:lstStyle/>
          <a:p>
            <a:pPr marL="0" indent="0">
              <a:lnSpc>
                <a:spcPct val="120000"/>
              </a:lnSpc>
              <a:buNone/>
            </a:pPr>
            <a:r>
              <a:rPr lang="en-US" sz="1150" dirty="0">
                <a:solidFill>
                  <a:srgbClr val="5A6B7A"/>
                </a:solidFill>
                <a:latin typeface="Calibri" pitchFamily="34" charset="0"/>
                <a:ea typeface="Calibri" pitchFamily="34" charset="-122"/>
                <a:cs typeface="Calibri" pitchFamily="34" charset="-120"/>
              </a:rPr>
              <a:t>IAM audits, security group reviews, compliance evidence — natural fit for a security-minded Cloud Engineer track</a:t>
            </a:r>
            <a:endParaRPr lang="en-US" sz="1150" dirty="0"/>
          </a:p>
        </p:txBody>
      </p:sp>
      <p:sp>
        <p:nvSpPr>
          <p:cNvPr id="25" name="Text 23"/>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Career Launch</a:t>
            </a:r>
            <a:endParaRPr lang="en-US" sz="900" dirty="0"/>
          </a:p>
        </p:txBody>
      </p:sp>
      <p:sp>
        <p:nvSpPr>
          <p:cNvPr id="26" name="Text 24"/>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2377440" cy="365760"/>
          </a:xfrm>
          <a:prstGeom prst="roundRect">
            <a:avLst>
              <a:gd name="adj" fmla="val 20000"/>
            </a:avLst>
          </a:prstGeom>
          <a:solidFill>
            <a:srgbClr val="1B2A4A"/>
          </a:solidFill>
          <a:ln/>
        </p:spPr>
        <p:txBody>
          <a:bodyPr/>
          <a:lstStyle/>
          <a:p>
            <a:endParaRPr lang="en-NG"/>
          </a:p>
        </p:txBody>
      </p:sp>
      <p:sp>
        <p:nvSpPr>
          <p:cNvPr id="3" name="Text 1"/>
          <p:cNvSpPr/>
          <p:nvPr/>
        </p:nvSpPr>
        <p:spPr>
          <a:xfrm>
            <a:off x="502920" y="411480"/>
            <a:ext cx="2377440" cy="365760"/>
          </a:xfrm>
          <a:prstGeom prst="rect">
            <a:avLst/>
          </a:prstGeom>
          <a:noFill/>
          <a:ln/>
        </p:spPr>
        <p:txBody>
          <a:bodyPr wrap="square"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NEXT STEPS</a:t>
            </a:r>
            <a:endParaRPr lang="en-US" sz="1200" dirty="0"/>
          </a:p>
        </p:txBody>
      </p:sp>
      <p:sp>
        <p:nvSpPr>
          <p:cNvPr id="4" name="Text 2"/>
          <p:cNvSpPr/>
          <p:nvPr/>
        </p:nvSpPr>
        <p:spPr>
          <a:xfrm>
            <a:off x="502920" y="868680"/>
            <a:ext cx="11183112" cy="822960"/>
          </a:xfrm>
          <a:prstGeom prst="rect">
            <a:avLst/>
          </a:prstGeom>
          <a:noFill/>
          <a:ln/>
        </p:spPr>
        <p:txBody>
          <a:bodyPr wrap="square" rtlCol="0" anchor="t"/>
          <a:lstStyle/>
          <a:p>
            <a:pPr marL="0" indent="0" algn="l">
              <a:buNone/>
            </a:pPr>
            <a:r>
              <a:rPr lang="en-US" sz="3000" b="1" dirty="0">
                <a:solidFill>
                  <a:srgbClr val="16202B"/>
                </a:solidFill>
                <a:latin typeface="Calibri" pitchFamily="34" charset="0"/>
                <a:ea typeface="Calibri" pitchFamily="34" charset="-122"/>
                <a:cs typeface="Calibri" pitchFamily="34" charset="-120"/>
              </a:rPr>
              <a:t>Certification Roadmap After This Bootcamp</a:t>
            </a:r>
            <a:endParaRPr lang="en-US" sz="3000" dirty="0"/>
          </a:p>
        </p:txBody>
      </p:sp>
      <p:sp>
        <p:nvSpPr>
          <p:cNvPr id="5" name="Shape 3"/>
          <p:cNvSpPr/>
          <p:nvPr/>
        </p:nvSpPr>
        <p:spPr>
          <a:xfrm>
            <a:off x="502920" y="1965960"/>
            <a:ext cx="1188720" cy="1188720"/>
          </a:xfrm>
          <a:prstGeom prst="rect">
            <a:avLst/>
          </a:prstGeom>
          <a:solidFill>
            <a:srgbClr val="1B2A4A"/>
          </a:solidFill>
          <a:ln/>
        </p:spPr>
        <p:txBody>
          <a:bodyPr/>
          <a:lstStyle/>
          <a:p>
            <a:endParaRPr lang="en-NG"/>
          </a:p>
        </p:txBody>
      </p:sp>
      <p:sp>
        <p:nvSpPr>
          <p:cNvPr id="6" name="Text 4"/>
          <p:cNvSpPr/>
          <p:nvPr/>
        </p:nvSpPr>
        <p:spPr>
          <a:xfrm>
            <a:off x="502920" y="1965960"/>
            <a:ext cx="1188720" cy="1188720"/>
          </a:xfrm>
          <a:prstGeom prst="rect">
            <a:avLst/>
          </a:prstGeom>
          <a:noFill/>
          <a:ln/>
        </p:spPr>
        <p:txBody>
          <a:bodyPr wrap="square" rtlCol="0" anchor="ctr"/>
          <a:lstStyle/>
          <a:p>
            <a:pPr marL="0" indent="0" algn="ctr">
              <a:buNone/>
            </a:pPr>
            <a:r>
              <a:rPr lang="en-US" sz="2600" b="1" dirty="0">
                <a:solidFill>
                  <a:srgbClr val="FF9900"/>
                </a:solidFill>
                <a:latin typeface="Calibri" pitchFamily="34" charset="0"/>
                <a:ea typeface="Calibri" pitchFamily="34" charset="-122"/>
                <a:cs typeface="Calibri" pitchFamily="34" charset="-120"/>
              </a:rPr>
              <a:t>01</a:t>
            </a:r>
            <a:endParaRPr lang="en-US" sz="2600" dirty="0"/>
          </a:p>
        </p:txBody>
      </p:sp>
      <p:sp>
        <p:nvSpPr>
          <p:cNvPr id="7" name="Text 5"/>
          <p:cNvSpPr/>
          <p:nvPr/>
        </p:nvSpPr>
        <p:spPr>
          <a:xfrm>
            <a:off x="1965960" y="2011680"/>
            <a:ext cx="9720072" cy="502920"/>
          </a:xfrm>
          <a:prstGeom prst="rect">
            <a:avLst/>
          </a:prstGeom>
          <a:noFill/>
          <a:ln/>
        </p:spPr>
        <p:txBody>
          <a:bodyPr wrap="square" rtlCol="0" anchor="ctr"/>
          <a:lstStyle/>
          <a:p>
            <a:pPr marL="0" indent="0">
              <a:buNone/>
            </a:pPr>
            <a:r>
              <a:rPr lang="en-US" sz="1600" b="1" dirty="0">
                <a:solidFill>
                  <a:srgbClr val="16202B"/>
                </a:solidFill>
                <a:latin typeface="Calibri" pitchFamily="34" charset="0"/>
                <a:ea typeface="Calibri" pitchFamily="34" charset="-122"/>
                <a:cs typeface="Calibri" pitchFamily="34" charset="-120"/>
              </a:rPr>
              <a:t>AWS Certified Cloud Practitioner</a:t>
            </a:r>
            <a:endParaRPr lang="en-US" sz="1600" dirty="0"/>
          </a:p>
        </p:txBody>
      </p:sp>
      <p:sp>
        <p:nvSpPr>
          <p:cNvPr id="8" name="Text 6"/>
          <p:cNvSpPr/>
          <p:nvPr/>
        </p:nvSpPr>
        <p:spPr>
          <a:xfrm>
            <a:off x="1965960" y="2532888"/>
            <a:ext cx="9720072" cy="502920"/>
          </a:xfrm>
          <a:prstGeom prst="rect">
            <a:avLst/>
          </a:prstGeom>
          <a:noFill/>
          <a:ln/>
        </p:spPr>
        <p:txBody>
          <a:bodyPr wrap="square" rtlCol="0" anchor="ctr"/>
          <a:lstStyle/>
          <a:p>
            <a:pPr marL="0" indent="0">
              <a:buNone/>
            </a:pPr>
            <a:r>
              <a:rPr lang="en-US" sz="1250" dirty="0">
                <a:solidFill>
                  <a:srgbClr val="5A6B7A"/>
                </a:solidFill>
                <a:latin typeface="Calibri" pitchFamily="34" charset="0"/>
                <a:ea typeface="Calibri" pitchFamily="34" charset="-122"/>
                <a:cs typeface="Calibri" pitchFamily="34" charset="-120"/>
              </a:rPr>
              <a:t>Optional broad foundation — skip if you're confident after Week 6</a:t>
            </a:r>
            <a:endParaRPr lang="en-US" sz="1250" dirty="0"/>
          </a:p>
        </p:txBody>
      </p:sp>
      <p:sp>
        <p:nvSpPr>
          <p:cNvPr id="9" name="Shape 7"/>
          <p:cNvSpPr/>
          <p:nvPr/>
        </p:nvSpPr>
        <p:spPr>
          <a:xfrm>
            <a:off x="502920" y="3383280"/>
            <a:ext cx="1188720" cy="1188720"/>
          </a:xfrm>
          <a:prstGeom prst="rect">
            <a:avLst/>
          </a:prstGeom>
          <a:solidFill>
            <a:srgbClr val="1B2A4A"/>
          </a:solidFill>
          <a:ln/>
        </p:spPr>
        <p:txBody>
          <a:bodyPr/>
          <a:lstStyle/>
          <a:p>
            <a:endParaRPr lang="en-NG"/>
          </a:p>
        </p:txBody>
      </p:sp>
      <p:sp>
        <p:nvSpPr>
          <p:cNvPr id="10" name="Text 8"/>
          <p:cNvSpPr/>
          <p:nvPr/>
        </p:nvSpPr>
        <p:spPr>
          <a:xfrm>
            <a:off x="502920" y="3383280"/>
            <a:ext cx="1188720" cy="1188720"/>
          </a:xfrm>
          <a:prstGeom prst="rect">
            <a:avLst/>
          </a:prstGeom>
          <a:noFill/>
          <a:ln/>
        </p:spPr>
        <p:txBody>
          <a:bodyPr wrap="square" rtlCol="0" anchor="ctr"/>
          <a:lstStyle/>
          <a:p>
            <a:pPr marL="0" indent="0" algn="ctr">
              <a:buNone/>
            </a:pPr>
            <a:r>
              <a:rPr lang="en-US" sz="2600" b="1" dirty="0">
                <a:solidFill>
                  <a:srgbClr val="FF9900"/>
                </a:solidFill>
                <a:latin typeface="Calibri" pitchFamily="34" charset="0"/>
                <a:ea typeface="Calibri" pitchFamily="34" charset="-122"/>
                <a:cs typeface="Calibri" pitchFamily="34" charset="-120"/>
              </a:rPr>
              <a:t>02</a:t>
            </a:r>
            <a:endParaRPr lang="en-US" sz="2600" dirty="0"/>
          </a:p>
        </p:txBody>
      </p:sp>
      <p:sp>
        <p:nvSpPr>
          <p:cNvPr id="11" name="Text 9"/>
          <p:cNvSpPr/>
          <p:nvPr/>
        </p:nvSpPr>
        <p:spPr>
          <a:xfrm>
            <a:off x="1965960" y="3429000"/>
            <a:ext cx="9720072" cy="502920"/>
          </a:xfrm>
          <a:prstGeom prst="rect">
            <a:avLst/>
          </a:prstGeom>
          <a:noFill/>
          <a:ln/>
        </p:spPr>
        <p:txBody>
          <a:bodyPr wrap="square" rtlCol="0" anchor="ctr"/>
          <a:lstStyle/>
          <a:p>
            <a:pPr marL="0" indent="0">
              <a:buNone/>
            </a:pPr>
            <a:r>
              <a:rPr lang="en-US" sz="1600" b="1" dirty="0">
                <a:solidFill>
                  <a:srgbClr val="16202B"/>
                </a:solidFill>
                <a:latin typeface="Calibri" pitchFamily="34" charset="0"/>
                <a:ea typeface="Calibri" pitchFamily="34" charset="-122"/>
                <a:cs typeface="Calibri" pitchFamily="34" charset="-120"/>
              </a:rPr>
              <a:t>AWS Certified Solutions Architect – Associate</a:t>
            </a:r>
            <a:endParaRPr lang="en-US" sz="1600" dirty="0"/>
          </a:p>
        </p:txBody>
      </p:sp>
      <p:sp>
        <p:nvSpPr>
          <p:cNvPr id="12" name="Text 10"/>
          <p:cNvSpPr/>
          <p:nvPr/>
        </p:nvSpPr>
        <p:spPr>
          <a:xfrm>
            <a:off x="1965960" y="3950208"/>
            <a:ext cx="9720072" cy="502920"/>
          </a:xfrm>
          <a:prstGeom prst="rect">
            <a:avLst/>
          </a:prstGeom>
          <a:noFill/>
          <a:ln/>
        </p:spPr>
        <p:txBody>
          <a:bodyPr wrap="square" rtlCol="0" anchor="ctr"/>
          <a:lstStyle/>
          <a:p>
            <a:pPr marL="0" indent="0">
              <a:buNone/>
            </a:pPr>
            <a:r>
              <a:rPr lang="en-US" sz="1250" dirty="0">
                <a:solidFill>
                  <a:srgbClr val="5A6B7A"/>
                </a:solidFill>
                <a:latin typeface="Calibri" pitchFamily="34" charset="0"/>
                <a:ea typeface="Calibri" pitchFamily="34" charset="-122"/>
                <a:cs typeface="Calibri" pitchFamily="34" charset="-120"/>
              </a:rPr>
              <a:t>The most-requested cert in job postings — start here</a:t>
            </a:r>
            <a:endParaRPr lang="en-US" sz="1250" dirty="0"/>
          </a:p>
        </p:txBody>
      </p:sp>
      <p:sp>
        <p:nvSpPr>
          <p:cNvPr id="13" name="Shape 11"/>
          <p:cNvSpPr/>
          <p:nvPr/>
        </p:nvSpPr>
        <p:spPr>
          <a:xfrm>
            <a:off x="502920" y="4800600"/>
            <a:ext cx="1188720" cy="1188720"/>
          </a:xfrm>
          <a:prstGeom prst="rect">
            <a:avLst/>
          </a:prstGeom>
          <a:solidFill>
            <a:srgbClr val="1B2A4A"/>
          </a:solidFill>
          <a:ln/>
        </p:spPr>
        <p:txBody>
          <a:bodyPr/>
          <a:lstStyle/>
          <a:p>
            <a:endParaRPr lang="en-NG"/>
          </a:p>
        </p:txBody>
      </p:sp>
      <p:sp>
        <p:nvSpPr>
          <p:cNvPr id="14" name="Text 12"/>
          <p:cNvSpPr/>
          <p:nvPr/>
        </p:nvSpPr>
        <p:spPr>
          <a:xfrm>
            <a:off x="502920" y="4800600"/>
            <a:ext cx="1188720" cy="1188720"/>
          </a:xfrm>
          <a:prstGeom prst="rect">
            <a:avLst/>
          </a:prstGeom>
          <a:noFill/>
          <a:ln/>
        </p:spPr>
        <p:txBody>
          <a:bodyPr wrap="square" rtlCol="0" anchor="ctr"/>
          <a:lstStyle/>
          <a:p>
            <a:pPr marL="0" indent="0" algn="ctr">
              <a:buNone/>
            </a:pPr>
            <a:r>
              <a:rPr lang="en-US" sz="2600" b="1" dirty="0">
                <a:solidFill>
                  <a:srgbClr val="FF9900"/>
                </a:solidFill>
                <a:latin typeface="Calibri" pitchFamily="34" charset="0"/>
                <a:ea typeface="Calibri" pitchFamily="34" charset="-122"/>
                <a:cs typeface="Calibri" pitchFamily="34" charset="-120"/>
              </a:rPr>
              <a:t>03</a:t>
            </a:r>
            <a:endParaRPr lang="en-US" sz="2600" dirty="0"/>
          </a:p>
        </p:txBody>
      </p:sp>
      <p:sp>
        <p:nvSpPr>
          <p:cNvPr id="15" name="Text 13"/>
          <p:cNvSpPr/>
          <p:nvPr/>
        </p:nvSpPr>
        <p:spPr>
          <a:xfrm>
            <a:off x="1965960" y="4846320"/>
            <a:ext cx="9720072" cy="502920"/>
          </a:xfrm>
          <a:prstGeom prst="rect">
            <a:avLst/>
          </a:prstGeom>
          <a:noFill/>
          <a:ln/>
        </p:spPr>
        <p:txBody>
          <a:bodyPr wrap="square" rtlCol="0" anchor="ctr"/>
          <a:lstStyle/>
          <a:p>
            <a:pPr marL="0" indent="0">
              <a:buNone/>
            </a:pPr>
            <a:r>
              <a:rPr lang="en-US" sz="1600" b="1" dirty="0">
                <a:solidFill>
                  <a:srgbClr val="16202B"/>
                </a:solidFill>
                <a:latin typeface="Calibri" pitchFamily="34" charset="0"/>
                <a:ea typeface="Calibri" pitchFamily="34" charset="-122"/>
                <a:cs typeface="Calibri" pitchFamily="34" charset="-120"/>
              </a:rPr>
              <a:t>Specialty: SysOps Administrator / Security</a:t>
            </a:r>
            <a:endParaRPr lang="en-US" sz="1600" dirty="0"/>
          </a:p>
        </p:txBody>
      </p:sp>
      <p:sp>
        <p:nvSpPr>
          <p:cNvPr id="16" name="Text 14"/>
          <p:cNvSpPr/>
          <p:nvPr/>
        </p:nvSpPr>
        <p:spPr>
          <a:xfrm>
            <a:off x="1965960" y="5367528"/>
            <a:ext cx="9720072" cy="502920"/>
          </a:xfrm>
          <a:prstGeom prst="rect">
            <a:avLst/>
          </a:prstGeom>
          <a:noFill/>
          <a:ln/>
        </p:spPr>
        <p:txBody>
          <a:bodyPr wrap="square" rtlCol="0" anchor="ctr"/>
          <a:lstStyle/>
          <a:p>
            <a:pPr marL="0" indent="0">
              <a:buNone/>
            </a:pPr>
            <a:r>
              <a:rPr lang="en-US" sz="1250" dirty="0">
                <a:solidFill>
                  <a:srgbClr val="5A6B7A"/>
                </a:solidFill>
                <a:latin typeface="Calibri" pitchFamily="34" charset="0"/>
                <a:ea typeface="Calibri" pitchFamily="34" charset="-122"/>
                <a:cs typeface="Calibri" pitchFamily="34" charset="-120"/>
              </a:rPr>
              <a:t>Pick based on which week of this bootcamp you enjoyed most</a:t>
            </a:r>
            <a:endParaRPr lang="en-US" sz="1250" dirty="0"/>
          </a:p>
        </p:txBody>
      </p:sp>
      <p:sp>
        <p:nvSpPr>
          <p:cNvPr id="17" name="Text 15"/>
          <p:cNvSpPr/>
          <p:nvPr/>
        </p:nvSpPr>
        <p:spPr>
          <a:xfrm>
            <a:off x="502920" y="6492240"/>
            <a:ext cx="11183112"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Career Launch</a:t>
            </a:r>
            <a:endParaRPr lang="en-US" sz="900" dirty="0"/>
          </a:p>
        </p:txBody>
      </p:sp>
      <p:sp>
        <p:nvSpPr>
          <p:cNvPr id="18" name="Text 16"/>
          <p:cNvSpPr/>
          <p:nvPr/>
        </p:nvSpPr>
        <p:spPr>
          <a:xfrm>
            <a:off x="502920" y="6492240"/>
            <a:ext cx="11183112"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AWS Cloud Engineer Bootcamp</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2286000"/>
            <a:ext cx="9144000" cy="457200"/>
          </a:xfrm>
          <a:prstGeom prst="rect">
            <a:avLst/>
          </a:prstGeom>
          <a:noFill/>
          <a:ln/>
        </p:spPr>
        <p:txBody>
          <a:bodyPr wrap="square" rtlCol="0" anchor="ctr"/>
          <a:lstStyle/>
          <a:p>
            <a:pPr marL="0" indent="0">
              <a:buNone/>
            </a:pPr>
            <a:r>
              <a:rPr lang="en-US" sz="1600" b="1" kern="0" spc="200" dirty="0">
                <a:solidFill>
                  <a:srgbClr val="FF9900"/>
                </a:solidFill>
                <a:latin typeface="Calibri" pitchFamily="34" charset="0"/>
                <a:ea typeface="Calibri" pitchFamily="34" charset="-122"/>
                <a:cs typeface="Calibri" pitchFamily="34" charset="-120"/>
              </a:rPr>
              <a:t>YOU BUILT A REAL</a:t>
            </a:r>
            <a:endParaRPr lang="en-US" sz="1600" dirty="0"/>
          </a:p>
        </p:txBody>
      </p:sp>
      <p:sp>
        <p:nvSpPr>
          <p:cNvPr id="3" name="Text 1"/>
          <p:cNvSpPr/>
          <p:nvPr/>
        </p:nvSpPr>
        <p:spPr>
          <a:xfrm>
            <a:off x="914400" y="2743200"/>
            <a:ext cx="10058400" cy="914400"/>
          </a:xfrm>
          <a:prstGeom prst="rect">
            <a:avLst/>
          </a:prstGeom>
          <a:noFill/>
          <a:ln/>
        </p:spPr>
        <p:txBody>
          <a:bodyPr wrap="square" rtlCol="0" anchor="ctr"/>
          <a:lstStyle/>
          <a:p>
            <a:pPr marL="0" indent="0">
              <a:buNone/>
            </a:pPr>
            <a:r>
              <a:rPr lang="en-US" sz="3800" b="1" dirty="0">
                <a:solidFill>
                  <a:schemeClr val="tx2"/>
                </a:solidFill>
                <a:latin typeface="Calibri" pitchFamily="34" charset="0"/>
                <a:ea typeface="Calibri" pitchFamily="34" charset="-122"/>
                <a:cs typeface="Calibri" pitchFamily="34" charset="-120"/>
              </a:rPr>
              <a:t>Cloud Engineer Portfolio</a:t>
            </a:r>
            <a:endParaRPr lang="en-US" sz="3800" dirty="0">
              <a:solidFill>
                <a:schemeClr val="tx2"/>
              </a:solidFill>
            </a:endParaRPr>
          </a:p>
        </p:txBody>
      </p:sp>
      <p:sp>
        <p:nvSpPr>
          <p:cNvPr id="4" name="Text 2"/>
          <p:cNvSpPr/>
          <p:nvPr/>
        </p:nvSpPr>
        <p:spPr>
          <a:xfrm>
            <a:off x="914400" y="3703320"/>
            <a:ext cx="9601200" cy="914400"/>
          </a:xfrm>
          <a:prstGeom prst="rect">
            <a:avLst/>
          </a:prstGeom>
          <a:noFill/>
          <a:ln/>
        </p:spPr>
        <p:txBody>
          <a:bodyPr wrap="square" rtlCol="0" anchor="ctr"/>
          <a:lstStyle/>
          <a:p>
            <a:pPr marL="0" indent="0">
              <a:lnSpc>
                <a:spcPct val="130000"/>
              </a:lnSpc>
              <a:buNone/>
            </a:pPr>
            <a:r>
              <a:rPr lang="en-US" sz="1500" dirty="0">
                <a:solidFill>
                  <a:schemeClr val="tx2"/>
                </a:solidFill>
                <a:latin typeface="Calibri" pitchFamily="34" charset="0"/>
                <a:ea typeface="Calibri" pitchFamily="34" charset="-122"/>
                <a:cs typeface="Calibri" pitchFamily="34" charset="-120"/>
              </a:rPr>
              <a:t>18 sessions. 1 secured account. 1 custom VPC. 1 highly-available web tier.</a:t>
            </a:r>
            <a:endParaRPr lang="en-US" sz="1500" dirty="0">
              <a:solidFill>
                <a:schemeClr val="tx2"/>
              </a:solidFill>
            </a:endParaRPr>
          </a:p>
          <a:p>
            <a:pPr marL="0" indent="0">
              <a:lnSpc>
                <a:spcPct val="130000"/>
              </a:lnSpc>
              <a:buNone/>
            </a:pPr>
            <a:r>
              <a:rPr lang="en-US" sz="1500" dirty="0">
                <a:solidFill>
                  <a:schemeClr val="tx2"/>
                </a:solidFill>
                <a:latin typeface="Calibri" pitchFamily="34" charset="0"/>
                <a:ea typeface="Calibri" pitchFamily="34" charset="-122"/>
                <a:cs typeface="Calibri" pitchFamily="34" charset="-120"/>
              </a:rPr>
              <a:t>1 serverless API. 1 Terraform-provisioned capstone. 1 resume that says all of it.</a:t>
            </a:r>
            <a:endParaRPr lang="en-US" sz="1500" dirty="0">
              <a:solidFill>
                <a:schemeClr val="tx2"/>
              </a:solidFill>
            </a:endParaRPr>
          </a:p>
        </p:txBody>
      </p:sp>
      <p:sp>
        <p:nvSpPr>
          <p:cNvPr id="5" name="Text 3"/>
          <p:cNvSpPr/>
          <p:nvPr/>
        </p:nvSpPr>
        <p:spPr>
          <a:xfrm>
            <a:off x="914400" y="4937760"/>
            <a:ext cx="7315200" cy="548640"/>
          </a:xfrm>
          <a:prstGeom prst="rect">
            <a:avLst/>
          </a:prstGeom>
          <a:noFill/>
          <a:ln/>
        </p:spPr>
        <p:txBody>
          <a:bodyPr wrap="square" rtlCol="0" anchor="ctr"/>
          <a:lstStyle/>
          <a:p>
            <a:pPr marL="0" indent="0">
              <a:buNone/>
            </a:pPr>
            <a:r>
              <a:rPr lang="en-US" sz="1800" b="1" dirty="0">
                <a:solidFill>
                  <a:srgbClr val="FF9900"/>
                </a:solidFill>
                <a:latin typeface="Calibri" pitchFamily="34" charset="0"/>
                <a:ea typeface="Calibri" pitchFamily="34" charset="-122"/>
                <a:cs typeface="Calibri" pitchFamily="34" charset="-120"/>
              </a:rPr>
              <a:t>Now go apply.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Datafrik">
      <a:dk1>
        <a:srgbClr val="0D2740"/>
      </a:dk1>
      <a:lt1>
        <a:srgbClr val="FFFFFF"/>
      </a:lt1>
      <a:dk2>
        <a:srgbClr val="0D2740"/>
      </a:dk2>
      <a:lt2>
        <a:srgbClr val="FFFFFF"/>
      </a:lt2>
      <a:accent1>
        <a:srgbClr val="37BDF2"/>
      </a:accent1>
      <a:accent2>
        <a:srgbClr val="0F55D7"/>
      </a:accent2>
      <a:accent3>
        <a:srgbClr val="40E0D0"/>
      </a:accent3>
      <a:accent4>
        <a:srgbClr val="1CA460"/>
      </a:accent4>
      <a:accent5>
        <a:srgbClr val="FF0CA6"/>
      </a:accent5>
      <a:accent6>
        <a:srgbClr val="FFC000"/>
      </a:accent6>
      <a:hlink>
        <a:srgbClr val="0070C0"/>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964D9B3-1650-4BB7-85EA-276B8A967E43}" vid="{8FF77232-28F0-4EE1-9C78-7F606989E0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TotalTime>
  <Words>19276</Words>
  <Application>Microsoft Macintosh PowerPoint</Application>
  <PresentationFormat>Widescreen</PresentationFormat>
  <Paragraphs>2035</Paragraphs>
  <Slides>174</Slides>
  <Notes>173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174</vt:i4>
      </vt:variant>
    </vt:vector>
  </HeadingPairs>
  <TitlesOfParts>
    <vt:vector size="179"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Constantine Ukah</dc:creator>
  <cp:lastModifiedBy>Constantine Ukah</cp:lastModifiedBy>
  <cp:revision>1</cp:revision>
  <dcterms:created xsi:type="dcterms:W3CDTF">2026-08-19T12:21:17Z</dcterms:created>
  <dcterms:modified xsi:type="dcterms:W3CDTF">2026-08-19T12:35:19Z</dcterms:modified>
</cp:coreProperties>
</file>